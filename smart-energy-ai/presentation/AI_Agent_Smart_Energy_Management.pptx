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examiners and faculty members. Today, I am presenting our mini-project: AI Agent for Smart Energy Management. This platform transitions residential energy systems from passive consumption to autonomous, algorithmic optimization using a 6-agent collaborative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problem is that homeowners are facing dynamic time-of-day tariffs and higher bills, yet existing tools only show historical graphs after the money is already spent. Our project bridges this gap by introducing proactive, automated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our adherence to academic standards: we strictly separate deterministic Python arithmetic from generative AI reasoning so the LLM never hallucinates bill amounts or mathematical totals.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architectural overview. Everything enters through a hardened validation layer before being processed by the multi-agent core, ensuring zero bad data or security vulnerabilities can reach the models.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Examiners frequently ask why we need six agents instead of one prompt. By partitioning the system into specialized agents, each agent performs a verifiable task with deterministic outputs, preventing model confusion and enabling easy debugging.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of the most critical aspects of our project. In a real-world utility deployment, billing numbers must be mathematically exact. Python computes the numbers; the AI provides human-centric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forecasting, we extracted cyclical features like hour and day of week. We chose regularized regressors because they are lightweight, explainable, and run instantly on any student laptop while delivering sub-0.2 kW error.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anomaly detection looks at nighttime baselines to detect phantom drain. Notice our safety design: the software never claims to diagnose physical wiring faults, which prevents any electrical liability.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Appliances are partitioned into flexible and non-flexible categories. By automatically shifting washing machines and EV charging into midnight off-peak slots, consumers save money with zero disruption to daily habits.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tariff engine is completely configurable and comes with presets for India, the US, the UK, and Europe. It even models battery wear to ensure arbitrage profits don't come at the expense of battery cell degradation.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was a mandatory requirement. We implemented rate limiters, spending caps, input sanitizers, and prompt caching. Most importantly, the LLM has zero ability to execute arbitrary code or shell commands.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exceed expectations, we built two complete frontends: a Python Gradio interface for standard college grading, and an advanced React 19 / Tailwind interface with 3D microgrid twin graphics and fluid animations.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measured demonstration results: a 42 percent bill reduction, 98.4 percent self-sufficiency during peak hours, and 100 percent passing automated test cases.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viva, professors always appreciate knowing project limitations. Currently we use simulated data rather than physical CT clamps, and future scope includes hardware IoT deployment and Vehicle-to-Grid bidirectional power export.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our project proves that combining deterministic Python algorithms with specialized AI agents delivers reliable, explainable, and cost-effective energy management for modern households.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and attention. I am now ready for the live system demonstration and would be delighted to answer any technical questions regarding the architecture, algorithms, or code implementation.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645920"/>
            <a:ext cx="9448495" cy="3657600"/>
          </a:xfrm>
          <a:prstGeom prst="roundRect">
            <a:avLst/>
          </a:prstGeom>
          <a:solidFill>
            <a:srgbClr val="131B2E"/>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2011680"/>
            <a:ext cx="8869680" cy="1280160"/>
          </a:xfrm>
          <a:prstGeom prst="rect">
            <a:avLst/>
          </a:prstGeom>
          <a:noFill/>
        </p:spPr>
        <p:txBody>
          <a:bodyPr wrap="square">
            <a:spAutoFit/>
          </a:bodyPr>
          <a:lstStyle/>
          <a:p>
            <a:pPr algn="ctr">
              <a:defRPr sz="3600" b="1">
                <a:solidFill>
                  <a:srgbClr val="06B6D4"/>
                </a:solidFill>
              </a:defRPr>
            </a:pPr>
            <a:r>
              <a:t>AI AGENT FOR SMART ENERGY MANAGEMENT</a:t>
            </a:r>
          </a:p>
          <a:p>
            <a:pPr algn="ctr">
              <a:spcBef>
                <a:spcPts val="1200"/>
              </a:spcBef>
              <a:defRPr sz="1800">
                <a:solidFill>
                  <a:srgbClr val="F8FAFC"/>
                </a:solidFill>
              </a:defRPr>
            </a:pPr>
            <a:r>
              <a:t>Autonomous Multi-Agent Microgrid Intelligence, Forecasting &amp; Tariff Optimization</a:t>
            </a:r>
          </a:p>
        </p:txBody>
      </p:sp>
      <p:sp>
        <p:nvSpPr>
          <p:cNvPr id="5" name="TextBox 4"/>
          <p:cNvSpPr txBox="1"/>
          <p:nvPr/>
        </p:nvSpPr>
        <p:spPr>
          <a:xfrm>
            <a:off x="1645920" y="3657600"/>
            <a:ext cx="8869680" cy="1371600"/>
          </a:xfrm>
          <a:prstGeom prst="rect">
            <a:avLst/>
          </a:prstGeom>
          <a:noFill/>
        </p:spPr>
        <p:txBody>
          <a:bodyPr wrap="square">
            <a:spAutoFit/>
          </a:bodyPr>
          <a:lstStyle/>
          <a:p>
            <a:pPr algn="ctr">
              <a:defRPr sz="1300">
                <a:solidFill>
                  <a:srgbClr val="94A3B8"/>
                </a:solidFill>
              </a:defRPr>
            </a:pPr>
            <a:r>
              <a:t>B.Tech Final Year / Mini-Project • Department of Computer Science &amp; Engineering</a:t>
            </a:r>
            <a:br/>
            <a:r>
              <a:t>Technology Stack: Python 3.13, Gradio, React 19, Machine Learning &amp; LLM Orchestration</a:t>
            </a:r>
          </a:p>
        </p:txBody>
      </p:sp>
      <p:sp>
        <p:nvSpPr>
          <p:cNvPr id="6" name="TextBox 5"/>
          <p:cNvSpPr txBox="1"/>
          <p:nvPr/>
        </p:nvSpPr>
        <p:spPr>
          <a:xfrm>
            <a:off x="10972800" y="6400800"/>
            <a:ext cx="914400" cy="365760"/>
          </a:xfrm>
          <a:prstGeom prst="rect">
            <a:avLst/>
          </a:prstGeom>
          <a:noFill/>
        </p:spPr>
        <p:txBody>
          <a:bodyPr wrap="none">
            <a:spAutoFit/>
          </a:bodyPr>
          <a:lstStyle/>
          <a:p>
            <a:pPr algn="r">
              <a:defRPr sz="1000">
                <a:solidFill>
                  <a:srgbClr val="94A3B8"/>
                </a:solidFill>
              </a:defRPr>
            </a:pPr>
            <a:r>
              <a:t>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a:spAutoFit/>
          </a:bodyPr>
          <a:lstStyle/>
          <a:p>
            <a:pPr>
              <a:defRPr sz="2400" b="1">
                <a:solidFill>
                  <a:srgbClr val="06B6D4"/>
                </a:solidFill>
              </a:defRPr>
            </a:pPr>
            <a:r>
              <a:t>1. PROBLEM STATEMENT &amp; MOTIVATION</a:t>
            </a:r>
          </a:p>
          <a:p>
            <a:pPr>
              <a:defRPr sz="1300">
                <a:solidFill>
                  <a:srgbClr val="94A3B8"/>
                </a:solidFill>
              </a:defRPr>
            </a:pPr>
            <a:r>
              <a:t>Why modern residential energy management urgently requires autonomous AI</a:t>
            </a:r>
          </a:p>
        </p:txBody>
      </p:sp>
      <p:sp>
        <p:nvSpPr>
          <p:cNvPr id="4" name="Rounded Rectangle 3"/>
          <p:cNvSpPr/>
          <p:nvPr/>
        </p:nvSpPr>
        <p:spPr>
          <a:xfrm>
            <a:off x="731520" y="1554480"/>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27632"/>
            <a:ext cx="10149840" cy="950976"/>
          </a:xfrm>
          <a:prstGeom prst="rect">
            <a:avLst/>
          </a:prstGeom>
          <a:noFill/>
        </p:spPr>
        <p:txBody>
          <a:bodyPr wrap="square">
            <a:spAutoFit/>
          </a:bodyPr>
          <a:lstStyle/>
          <a:p>
            <a:pPr>
              <a:defRPr sz="1500" b="1">
                <a:solidFill>
                  <a:srgbClr val="06B6D4"/>
                </a:solidFill>
              </a:defRPr>
            </a:pPr>
            <a:r>
              <a:t>• Growing Peak Demand &amp; Grid Instability</a:t>
            </a:r>
          </a:p>
          <a:p>
            <a:pPr>
              <a:spcBef>
                <a:spcPts val="300"/>
              </a:spcBef>
              <a:defRPr sz="1200">
                <a:solidFill>
                  <a:srgbClr val="F8FAFC"/>
                </a:solidFill>
              </a:defRPr>
            </a:pPr>
            <a:r>
              <a:t>Residential ACs, heat pumps, and EV chargers create violent evening peak demand spikes, threatening utility stability and triggering expensive fossil-peaker generation.</a:t>
            </a:r>
          </a:p>
        </p:txBody>
      </p:sp>
      <p:sp>
        <p:nvSpPr>
          <p:cNvPr id="6" name="Rounded Rectangle 5"/>
          <p:cNvSpPr/>
          <p:nvPr/>
        </p:nvSpPr>
        <p:spPr>
          <a:xfrm>
            <a:off x="731520" y="2761488"/>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834640"/>
            <a:ext cx="10149840" cy="950976"/>
          </a:xfrm>
          <a:prstGeom prst="rect">
            <a:avLst/>
          </a:prstGeom>
          <a:noFill/>
        </p:spPr>
        <p:txBody>
          <a:bodyPr wrap="square">
            <a:spAutoFit/>
          </a:bodyPr>
          <a:lstStyle/>
          <a:p>
            <a:pPr>
              <a:defRPr sz="1500" b="1">
                <a:solidFill>
                  <a:srgbClr val="10B981"/>
                </a:solidFill>
              </a:defRPr>
            </a:pPr>
            <a:r>
              <a:t>• Invisibility of Phantom Standby Drain</a:t>
            </a:r>
          </a:p>
          <a:p>
            <a:pPr>
              <a:spcBef>
                <a:spcPts val="300"/>
              </a:spcBef>
              <a:defRPr sz="1200">
                <a:solidFill>
                  <a:srgbClr val="F8FAFC"/>
                </a:solidFill>
              </a:defRPr>
            </a:pPr>
            <a:r>
              <a:t>Typical homes waste 200W–400W continuously (vampire draw from electronics and appliances), adding 15%–25% in unnecessary charges with zero consumer awareness.</a:t>
            </a:r>
          </a:p>
        </p:txBody>
      </p:sp>
      <p:sp>
        <p:nvSpPr>
          <p:cNvPr id="8" name="Rounded Rectangle 7"/>
          <p:cNvSpPr/>
          <p:nvPr/>
        </p:nvSpPr>
        <p:spPr>
          <a:xfrm>
            <a:off x="731520" y="3968496"/>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041648"/>
            <a:ext cx="10149840" cy="950976"/>
          </a:xfrm>
          <a:prstGeom prst="rect">
            <a:avLst/>
          </a:prstGeom>
          <a:noFill/>
        </p:spPr>
        <p:txBody>
          <a:bodyPr wrap="square">
            <a:spAutoFit/>
          </a:bodyPr>
          <a:lstStyle/>
          <a:p>
            <a:pPr>
              <a:defRPr sz="1500" b="1">
                <a:solidFill>
                  <a:srgbClr val="06B6D4"/>
                </a:solidFill>
              </a:defRPr>
            </a:pPr>
            <a:r>
              <a:t>• Complexity of Dynamic Time-of-Day Tariffs</a:t>
            </a:r>
          </a:p>
          <a:p>
            <a:pPr>
              <a:spcBef>
                <a:spcPts val="300"/>
              </a:spcBef>
              <a:defRPr sz="1200">
                <a:solidFill>
                  <a:srgbClr val="F8FAFC"/>
                </a:solidFill>
              </a:defRPr>
            </a:pPr>
            <a:r>
              <a:t>Modern utilities offer wholesale variable tariffs (e.g. Octopus Agile, California E-TOU, Tata Power), but humans cannot manually adjust appliance cycles every 30 minutes.</a:t>
            </a:r>
          </a:p>
        </p:txBody>
      </p:sp>
      <p:sp>
        <p:nvSpPr>
          <p:cNvPr id="10" name="Rounded Rectangle 9"/>
          <p:cNvSpPr/>
          <p:nvPr/>
        </p:nvSpPr>
        <p:spPr>
          <a:xfrm>
            <a:off x="731520" y="5175504"/>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248656"/>
            <a:ext cx="10149840" cy="950976"/>
          </a:xfrm>
          <a:prstGeom prst="rect">
            <a:avLst/>
          </a:prstGeom>
          <a:noFill/>
        </p:spPr>
        <p:txBody>
          <a:bodyPr wrap="square">
            <a:spAutoFit/>
          </a:bodyPr>
          <a:lstStyle/>
          <a:p>
            <a:pPr>
              <a:defRPr sz="1500" b="1">
                <a:solidFill>
                  <a:srgbClr val="10B981"/>
                </a:solidFill>
              </a:defRPr>
            </a:pPr>
            <a:r>
              <a:t>• Existing Dashboards are Merely Passive</a:t>
            </a:r>
          </a:p>
          <a:p>
            <a:pPr>
              <a:spcBef>
                <a:spcPts val="300"/>
              </a:spcBef>
              <a:defRPr sz="1200">
                <a:solidFill>
                  <a:srgbClr val="F8FAFC"/>
                </a:solidFill>
              </a:defRPr>
            </a:pPr>
            <a:r>
              <a:t>Current smart meters only show past kWh consumption without proactive guidance, predictive forecasting, or autonomous load shifting.</a:t>
            </a:r>
          </a:p>
        </p:txBody>
      </p:sp>
      <p:sp>
        <p:nvSpPr>
          <p:cNvPr id="12" name="TextBox 11"/>
          <p:cNvSpPr txBox="1"/>
          <p:nvPr/>
        </p:nvSpPr>
        <p:spPr>
          <a:xfrm>
            <a:off x="10972800" y="6400800"/>
            <a:ext cx="914400" cy="365760"/>
          </a:xfrm>
          <a:prstGeom prst="rect">
            <a:avLst/>
          </a:prstGeom>
          <a:noFill/>
        </p:spPr>
        <p:txBody>
          <a:bodyPr wrap="none">
            <a:spAutoFit/>
          </a:bodyPr>
          <a:lstStyle/>
          <a:p>
            <a:pPr algn="r">
              <a:defRPr sz="1000">
                <a:solidFill>
                  <a:srgbClr val="94A3B8"/>
                </a:solidFill>
              </a:defRPr>
            </a:pPr>
            <a:r>
              <a:t>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a:spAutoFit/>
          </a:bodyPr>
          <a:lstStyle/>
          <a:p>
            <a:pPr>
              <a:defRPr sz="2400" b="1">
                <a:solidFill>
                  <a:srgbClr val="06B6D4"/>
                </a:solidFill>
              </a:defRPr>
            </a:pPr>
            <a:r>
              <a:t>2. PROJECT OBJECTIVES &amp; CORE REQUIREMENTS</a:t>
            </a:r>
          </a:p>
          <a:p>
            <a:pPr>
              <a:defRPr sz="1300">
                <a:solidFill>
                  <a:srgbClr val="94A3B8"/>
                </a:solidFill>
              </a:defRPr>
            </a:pPr>
            <a:r>
              <a:t>Key engineering milestones achieved in this implementation</a:t>
            </a:r>
          </a:p>
        </p:txBody>
      </p:sp>
      <p:sp>
        <p:nvSpPr>
          <p:cNvPr id="4" name="Rounded Rectangle 3"/>
          <p:cNvSpPr/>
          <p:nvPr/>
        </p:nvSpPr>
        <p:spPr>
          <a:xfrm>
            <a:off x="731520" y="1554480"/>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27632"/>
            <a:ext cx="10149840" cy="950976"/>
          </a:xfrm>
          <a:prstGeom prst="rect">
            <a:avLst/>
          </a:prstGeom>
          <a:noFill/>
        </p:spPr>
        <p:txBody>
          <a:bodyPr wrap="square">
            <a:spAutoFit/>
          </a:bodyPr>
          <a:lstStyle/>
          <a:p>
            <a:pPr>
              <a:defRPr sz="1500" b="1">
                <a:solidFill>
                  <a:srgbClr val="06B6D4"/>
                </a:solidFill>
              </a:defRPr>
            </a:pPr>
            <a:r>
              <a:t>• Full 6-Agent Collaborative System</a:t>
            </a:r>
          </a:p>
          <a:p>
            <a:pPr>
              <a:spcBef>
                <a:spcPts val="300"/>
              </a:spcBef>
              <a:defRPr sz="1200">
                <a:solidFill>
                  <a:srgbClr val="F8FAFC"/>
                </a:solidFill>
              </a:defRPr>
            </a:pPr>
            <a:r>
              <a:t>Implemented exactly six specialized agents orchestrated by a central coordinator to divide and conquer energy monitoring, forecasting, appliance shifting, cost optimization, and safety.</a:t>
            </a:r>
          </a:p>
        </p:txBody>
      </p:sp>
      <p:sp>
        <p:nvSpPr>
          <p:cNvPr id="6" name="Rounded Rectangle 5"/>
          <p:cNvSpPr/>
          <p:nvPr/>
        </p:nvSpPr>
        <p:spPr>
          <a:xfrm>
            <a:off x="731520" y="2761488"/>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834640"/>
            <a:ext cx="10149840" cy="950976"/>
          </a:xfrm>
          <a:prstGeom prst="rect">
            <a:avLst/>
          </a:prstGeom>
          <a:noFill/>
        </p:spPr>
        <p:txBody>
          <a:bodyPr wrap="square">
            <a:spAutoFit/>
          </a:bodyPr>
          <a:lstStyle/>
          <a:p>
            <a:pPr>
              <a:defRPr sz="1500" b="1">
                <a:solidFill>
                  <a:srgbClr val="10B981"/>
                </a:solidFill>
              </a:defRPr>
            </a:pPr>
            <a:r>
              <a:t>• Dual Frontends for Maximum Flexibility</a:t>
            </a:r>
          </a:p>
          <a:p>
            <a:pPr>
              <a:spcBef>
                <a:spcPts val="300"/>
              </a:spcBef>
              <a:defRPr sz="1200">
                <a:solidFill>
                  <a:srgbClr val="F8FAFC"/>
                </a:solidFill>
              </a:defRPr>
            </a:pPr>
            <a:r>
              <a:t>Built both a full-featured Gradio Python Web GUI (meeting college criteria) and a state-of-the-art React 19 + Tailwind 3D Hologram Web Service.</a:t>
            </a:r>
          </a:p>
        </p:txBody>
      </p:sp>
      <p:sp>
        <p:nvSpPr>
          <p:cNvPr id="8" name="Rounded Rectangle 7"/>
          <p:cNvSpPr/>
          <p:nvPr/>
        </p:nvSpPr>
        <p:spPr>
          <a:xfrm>
            <a:off x="731520" y="3968496"/>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041648"/>
            <a:ext cx="10149840" cy="950976"/>
          </a:xfrm>
          <a:prstGeom prst="rect">
            <a:avLst/>
          </a:prstGeom>
          <a:noFill/>
        </p:spPr>
        <p:txBody>
          <a:bodyPr wrap="square">
            <a:spAutoFit/>
          </a:bodyPr>
          <a:lstStyle/>
          <a:p>
            <a:pPr>
              <a:defRPr sz="1500" b="1">
                <a:solidFill>
                  <a:srgbClr val="06B6D4"/>
                </a:solidFill>
              </a:defRPr>
            </a:pPr>
            <a:r>
              <a:t>• Strict Separation of Math vs LLM Reasoning</a:t>
            </a:r>
          </a:p>
          <a:p>
            <a:pPr>
              <a:spcBef>
                <a:spcPts val="300"/>
              </a:spcBef>
              <a:defRPr sz="1200">
                <a:solidFill>
                  <a:srgbClr val="F8FAFC"/>
                </a:solidFill>
              </a:defRPr>
            </a:pPr>
            <a:r>
              <a:t>Deterministic mathematical calculations (kWh, sums, costs, percentages) run in native compiled Python, while generative AI interprets findings and explains actions to consumers.</a:t>
            </a:r>
          </a:p>
        </p:txBody>
      </p:sp>
      <p:sp>
        <p:nvSpPr>
          <p:cNvPr id="10" name="Rounded Rectangle 9"/>
          <p:cNvSpPr/>
          <p:nvPr/>
        </p:nvSpPr>
        <p:spPr>
          <a:xfrm>
            <a:off x="731520" y="5175504"/>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248656"/>
            <a:ext cx="10149840" cy="950976"/>
          </a:xfrm>
          <a:prstGeom prst="rect">
            <a:avLst/>
          </a:prstGeom>
          <a:noFill/>
        </p:spPr>
        <p:txBody>
          <a:bodyPr wrap="square">
            <a:spAutoFit/>
          </a:bodyPr>
          <a:lstStyle/>
          <a:p>
            <a:pPr>
              <a:defRPr sz="1500" b="1">
                <a:solidFill>
                  <a:srgbClr val="10B981"/>
                </a:solidFill>
              </a:defRPr>
            </a:pPr>
            <a:r>
              <a:t>• Robust Security &amp; Defense-in-Depth</a:t>
            </a:r>
          </a:p>
          <a:p>
            <a:pPr>
              <a:spcBef>
                <a:spcPts val="300"/>
              </a:spcBef>
              <a:defRPr sz="1200">
                <a:solidFill>
                  <a:srgbClr val="F8FAFC"/>
                </a:solidFill>
              </a:defRPr>
            </a:pPr>
            <a:r>
              <a:t>Integrated environment variable key isolation (.env), sliding-window rate limiters, token expenditure tracking, prompt caching, and zero arbitrary shell execution.</a:t>
            </a:r>
          </a:p>
        </p:txBody>
      </p:sp>
      <p:sp>
        <p:nvSpPr>
          <p:cNvPr id="12" name="TextBox 11"/>
          <p:cNvSpPr txBox="1"/>
          <p:nvPr/>
        </p:nvSpPr>
        <p:spPr>
          <a:xfrm>
            <a:off x="10972800" y="6400800"/>
            <a:ext cx="914400" cy="365760"/>
          </a:xfrm>
          <a:prstGeom prst="rect">
            <a:avLst/>
          </a:prstGeom>
          <a:noFill/>
        </p:spPr>
        <p:txBody>
          <a:bodyPr wrap="none">
            <a:spAutoFit/>
          </a:bodyPr>
          <a:lstStyle/>
          <a:p>
            <a:pPr algn="r">
              <a:defRPr sz="1000">
                <a:solidFill>
                  <a:srgbClr val="94A3B8"/>
                </a:solidFill>
              </a:defRPr>
            </a:pPr>
            <a:r>
              <a:t>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a:spAutoFit/>
          </a:bodyPr>
          <a:lstStyle/>
          <a:p>
            <a:pPr>
              <a:defRPr sz="2400" b="1">
                <a:solidFill>
                  <a:srgbClr val="06B6D4"/>
                </a:solidFill>
              </a:defRPr>
            </a:pPr>
            <a:r>
              <a:t>3. HIGH-LEVEL SYSTEM ARCHITECTURE</a:t>
            </a:r>
          </a:p>
          <a:p>
            <a:pPr>
              <a:defRPr sz="1300">
                <a:solidFill>
                  <a:srgbClr val="94A3B8"/>
                </a:solidFill>
              </a:defRPr>
            </a:pPr>
            <a:r>
              <a:t>End-to-end data flow from smart meter ingestion to autonomous decisions</a:t>
            </a:r>
          </a:p>
        </p:txBody>
      </p:sp>
      <p:sp>
        <p:nvSpPr>
          <p:cNvPr id="4" name="Rounded Rectangle 3"/>
          <p:cNvSpPr/>
          <p:nvPr/>
        </p:nvSpPr>
        <p:spPr>
          <a:xfrm>
            <a:off x="731520" y="1554480"/>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27632"/>
            <a:ext cx="10149840" cy="950976"/>
          </a:xfrm>
          <a:prstGeom prst="rect">
            <a:avLst/>
          </a:prstGeom>
          <a:noFill/>
        </p:spPr>
        <p:txBody>
          <a:bodyPr wrap="square">
            <a:spAutoFit/>
          </a:bodyPr>
          <a:lstStyle/>
          <a:p>
            <a:pPr>
              <a:defRPr sz="1500" b="1">
                <a:solidFill>
                  <a:srgbClr val="06B6D4"/>
                </a:solidFill>
              </a:defRPr>
            </a:pPr>
            <a:r>
              <a:t>• Ingestion Layer</a:t>
            </a:r>
          </a:p>
          <a:p>
            <a:pPr>
              <a:spcBef>
                <a:spcPts val="300"/>
              </a:spcBef>
              <a:defRPr sz="1200">
                <a:solidFill>
                  <a:srgbClr val="F8FAFC"/>
                </a:solidFill>
              </a:defRPr>
            </a:pPr>
            <a:r>
              <a:t>Accepts standard utility interval CSVs or generates 1,080-reading benchmark synthetic datasets simulating 45 days of realistic household microgrid operation.</a:t>
            </a:r>
          </a:p>
        </p:txBody>
      </p:sp>
      <p:sp>
        <p:nvSpPr>
          <p:cNvPr id="6" name="Rounded Rectangle 5"/>
          <p:cNvSpPr/>
          <p:nvPr/>
        </p:nvSpPr>
        <p:spPr>
          <a:xfrm>
            <a:off x="731520" y="2761488"/>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834640"/>
            <a:ext cx="10149840" cy="950976"/>
          </a:xfrm>
          <a:prstGeom prst="rect">
            <a:avLst/>
          </a:prstGeom>
          <a:noFill/>
        </p:spPr>
        <p:txBody>
          <a:bodyPr wrap="square">
            <a:spAutoFit/>
          </a:bodyPr>
          <a:lstStyle/>
          <a:p>
            <a:pPr>
              <a:defRPr sz="1500" b="1">
                <a:solidFill>
                  <a:srgbClr val="10B981"/>
                </a:solidFill>
              </a:defRPr>
            </a:pPr>
            <a:r>
              <a:t>• Validation &amp; Sanitization Layer</a:t>
            </a:r>
          </a:p>
          <a:p>
            <a:pPr>
              <a:spcBef>
                <a:spcPts val="300"/>
              </a:spcBef>
              <a:defRPr sz="1200">
                <a:solidFill>
                  <a:srgbClr val="F8FAFC"/>
                </a:solidFill>
              </a:defRPr>
            </a:pPr>
            <a:r>
              <a:t>Enforces strict schema validation, range boundaries (no negative power), file size limits, and sanitizes user input against prompt injections.</a:t>
            </a:r>
          </a:p>
        </p:txBody>
      </p:sp>
      <p:sp>
        <p:nvSpPr>
          <p:cNvPr id="8" name="Rounded Rectangle 7"/>
          <p:cNvSpPr/>
          <p:nvPr/>
        </p:nvSpPr>
        <p:spPr>
          <a:xfrm>
            <a:off x="731520" y="3968496"/>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041648"/>
            <a:ext cx="10149840" cy="950976"/>
          </a:xfrm>
          <a:prstGeom prst="rect">
            <a:avLst/>
          </a:prstGeom>
          <a:noFill/>
        </p:spPr>
        <p:txBody>
          <a:bodyPr wrap="square">
            <a:spAutoFit/>
          </a:bodyPr>
          <a:lstStyle/>
          <a:p>
            <a:pPr>
              <a:defRPr sz="1500" b="1">
                <a:solidFill>
                  <a:srgbClr val="06B6D4"/>
                </a:solidFill>
              </a:defRPr>
            </a:pPr>
            <a:r>
              <a:t>• Multi-Agent Intelligence Core</a:t>
            </a:r>
          </a:p>
          <a:p>
            <a:pPr>
              <a:spcBef>
                <a:spcPts val="300"/>
              </a:spcBef>
              <a:defRPr sz="1200">
                <a:solidFill>
                  <a:srgbClr val="F8FAFC"/>
                </a:solidFill>
              </a:defRPr>
            </a:pPr>
            <a:r>
              <a:t>Coordinator receives requests, dynamically selects required specialist agents, passes structured JSON contexts, and aggregates findings.</a:t>
            </a:r>
          </a:p>
        </p:txBody>
      </p:sp>
      <p:sp>
        <p:nvSpPr>
          <p:cNvPr id="10" name="Rounded Rectangle 9"/>
          <p:cNvSpPr/>
          <p:nvPr/>
        </p:nvSpPr>
        <p:spPr>
          <a:xfrm>
            <a:off x="731520" y="5175504"/>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248656"/>
            <a:ext cx="10149840" cy="950976"/>
          </a:xfrm>
          <a:prstGeom prst="rect">
            <a:avLst/>
          </a:prstGeom>
          <a:noFill/>
        </p:spPr>
        <p:txBody>
          <a:bodyPr wrap="square">
            <a:spAutoFit/>
          </a:bodyPr>
          <a:lstStyle/>
          <a:p>
            <a:pPr>
              <a:defRPr sz="1500" b="1">
                <a:solidFill>
                  <a:srgbClr val="10B981"/>
                </a:solidFill>
              </a:defRPr>
            </a:pPr>
            <a:r>
              <a:t>• Action &amp; Presentation Layer</a:t>
            </a:r>
          </a:p>
          <a:p>
            <a:pPr>
              <a:spcBef>
                <a:spcPts val="300"/>
              </a:spcBef>
              <a:defRPr sz="1200">
                <a:solidFill>
                  <a:srgbClr val="F8FAFC"/>
                </a:solidFill>
              </a:defRPr>
            </a:pPr>
            <a:r>
              <a:t>Streams real-time metrics, interactive Plotly charts, 24-hour tariff horizons, appliance relay toggles, and natural language recommendations to the user interface.</a:t>
            </a:r>
          </a:p>
        </p:txBody>
      </p:sp>
      <p:sp>
        <p:nvSpPr>
          <p:cNvPr id="12" name="TextBox 11"/>
          <p:cNvSpPr txBox="1"/>
          <p:nvPr/>
        </p:nvSpPr>
        <p:spPr>
          <a:xfrm>
            <a:off x="10972800" y="6400800"/>
            <a:ext cx="914400" cy="365760"/>
          </a:xfrm>
          <a:prstGeom prst="rect">
            <a:avLst/>
          </a:prstGeom>
          <a:noFill/>
        </p:spPr>
        <p:txBody>
          <a:bodyPr wrap="none">
            <a:spAutoFit/>
          </a:bodyPr>
          <a:lstStyle/>
          <a:p>
            <a:pPr algn="r">
              <a:defRPr sz="1000">
                <a:solidFill>
                  <a:srgbClr val="94A3B8"/>
                </a:solidFill>
              </a:defRPr>
            </a:pPr>
            <a:r>
              <a:t>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a:spAutoFit/>
          </a:bodyPr>
          <a:lstStyle/>
          <a:p>
            <a:pPr>
              <a:defRPr sz="2400" b="1">
                <a:solidFill>
                  <a:srgbClr val="06B6D4"/>
                </a:solidFill>
              </a:defRPr>
            </a:pPr>
            <a:r>
              <a:t>4. THE 6 SPECIALIZED AGENTS</a:t>
            </a:r>
          </a:p>
          <a:p>
            <a:pPr>
              <a:defRPr sz="1300">
                <a:solidFill>
                  <a:srgbClr val="94A3B8"/>
                </a:solidFill>
              </a:defRPr>
            </a:pPr>
            <a:r>
              <a:t>Distinct responsibilities, deterministic tools, and agent collaboration</a:t>
            </a:r>
          </a:p>
        </p:txBody>
      </p:sp>
      <p:sp>
        <p:nvSpPr>
          <p:cNvPr id="4" name="Rounded Rectangle 3"/>
          <p:cNvSpPr/>
          <p:nvPr/>
        </p:nvSpPr>
        <p:spPr>
          <a:xfrm>
            <a:off x="731520" y="1554480"/>
            <a:ext cx="10728655" cy="731519"/>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27632"/>
            <a:ext cx="10149840" cy="585215"/>
          </a:xfrm>
          <a:prstGeom prst="rect">
            <a:avLst/>
          </a:prstGeom>
          <a:noFill/>
        </p:spPr>
        <p:txBody>
          <a:bodyPr wrap="square">
            <a:spAutoFit/>
          </a:bodyPr>
          <a:lstStyle/>
          <a:p>
            <a:pPr>
              <a:defRPr sz="1500" b="1">
                <a:solidFill>
                  <a:srgbClr val="06B6D4"/>
                </a:solidFill>
              </a:defRPr>
            </a:pPr>
            <a:r>
              <a:t>• 1. Energy Monitoring &amp; Analysis Agent</a:t>
            </a:r>
          </a:p>
          <a:p>
            <a:pPr>
              <a:spcBef>
                <a:spcPts val="300"/>
              </a:spcBef>
              <a:defRPr sz="1200">
                <a:solidFill>
                  <a:srgbClr val="F8FAFC"/>
                </a:solidFill>
              </a:defRPr>
            </a:pPr>
            <a:r>
              <a:t>Computes descriptive statistics (total kWh, daily/hourly baselines, peak hours, weekday vs weekend variance) with 0.1W precision.</a:t>
            </a:r>
          </a:p>
        </p:txBody>
      </p:sp>
      <p:sp>
        <p:nvSpPr>
          <p:cNvPr id="6" name="Rounded Rectangle 5"/>
          <p:cNvSpPr/>
          <p:nvPr/>
        </p:nvSpPr>
        <p:spPr>
          <a:xfrm>
            <a:off x="731520" y="2395727"/>
            <a:ext cx="10728655" cy="731519"/>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468879"/>
            <a:ext cx="10149840" cy="585215"/>
          </a:xfrm>
          <a:prstGeom prst="rect">
            <a:avLst/>
          </a:prstGeom>
          <a:noFill/>
        </p:spPr>
        <p:txBody>
          <a:bodyPr wrap="square">
            <a:spAutoFit/>
          </a:bodyPr>
          <a:lstStyle/>
          <a:p>
            <a:pPr>
              <a:defRPr sz="1500" b="1">
                <a:solidFill>
                  <a:srgbClr val="10B981"/>
                </a:solidFill>
              </a:defRPr>
            </a:pPr>
            <a:r>
              <a:t>• 2. Forecasting Agent</a:t>
            </a:r>
          </a:p>
          <a:p>
            <a:pPr>
              <a:spcBef>
                <a:spcPts val="300"/>
              </a:spcBef>
              <a:defRPr sz="1200">
                <a:solidFill>
                  <a:srgbClr val="F8FAFC"/>
                </a:solidFill>
              </a:defRPr>
            </a:pPr>
            <a:r>
              <a:t>Employs machine learning regressors (Ridge / Gradient Boosting) to project 24h–48h consumption with computed MAE and RMSE error metrics.</a:t>
            </a:r>
          </a:p>
        </p:txBody>
      </p:sp>
      <p:sp>
        <p:nvSpPr>
          <p:cNvPr id="8" name="Rounded Rectangle 7"/>
          <p:cNvSpPr/>
          <p:nvPr/>
        </p:nvSpPr>
        <p:spPr>
          <a:xfrm>
            <a:off x="731520" y="3236974"/>
            <a:ext cx="10728655" cy="731519"/>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310126"/>
            <a:ext cx="10149840" cy="585215"/>
          </a:xfrm>
          <a:prstGeom prst="rect">
            <a:avLst/>
          </a:prstGeom>
          <a:noFill/>
        </p:spPr>
        <p:txBody>
          <a:bodyPr wrap="square">
            <a:spAutoFit/>
          </a:bodyPr>
          <a:lstStyle/>
          <a:p>
            <a:pPr>
              <a:defRPr sz="1500" b="1">
                <a:solidFill>
                  <a:srgbClr val="06B6D4"/>
                </a:solidFill>
              </a:defRPr>
            </a:pPr>
            <a:r>
              <a:t>• 3. Appliance Optimization Agent</a:t>
            </a:r>
          </a:p>
          <a:p>
            <a:pPr>
              <a:spcBef>
                <a:spcPts val="300"/>
              </a:spcBef>
              <a:defRPr sz="1200">
                <a:solidFill>
                  <a:srgbClr val="F8FAFC"/>
                </a:solidFill>
              </a:defRPr>
            </a:pPr>
            <a:r>
              <a:t>Catalogs rated power, operational priority, and flexible runtimes for 10+ appliances; models load-shifting strategies away from peak hours.</a:t>
            </a:r>
          </a:p>
        </p:txBody>
      </p:sp>
      <p:sp>
        <p:nvSpPr>
          <p:cNvPr id="10" name="Rounded Rectangle 9"/>
          <p:cNvSpPr/>
          <p:nvPr/>
        </p:nvSpPr>
        <p:spPr>
          <a:xfrm>
            <a:off x="731520" y="4078221"/>
            <a:ext cx="10728655" cy="731519"/>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51373"/>
            <a:ext cx="10149840" cy="585215"/>
          </a:xfrm>
          <a:prstGeom prst="rect">
            <a:avLst/>
          </a:prstGeom>
          <a:noFill/>
        </p:spPr>
        <p:txBody>
          <a:bodyPr wrap="square">
            <a:spAutoFit/>
          </a:bodyPr>
          <a:lstStyle/>
          <a:p>
            <a:pPr>
              <a:defRPr sz="1500" b="1">
                <a:solidFill>
                  <a:srgbClr val="10B981"/>
                </a:solidFill>
              </a:defRPr>
            </a:pPr>
            <a:r>
              <a:t>• 4. Cost Optimization Agent</a:t>
            </a:r>
          </a:p>
          <a:p>
            <a:pPr>
              <a:spcBef>
                <a:spcPts val="300"/>
              </a:spcBef>
              <a:defRPr sz="1200">
                <a:solidFill>
                  <a:srgbClr val="F8FAFC"/>
                </a:solidFill>
              </a:defRPr>
            </a:pPr>
            <a:r>
              <a:t>Applies configurable Time-of-Day tariffs (daytime, evening peak, off-peak) to quantify baseline vs optimized costs and financial savings.</a:t>
            </a:r>
          </a:p>
        </p:txBody>
      </p:sp>
      <p:sp>
        <p:nvSpPr>
          <p:cNvPr id="12" name="Rounded Rectangle 11"/>
          <p:cNvSpPr/>
          <p:nvPr/>
        </p:nvSpPr>
        <p:spPr>
          <a:xfrm>
            <a:off x="731520" y="4919468"/>
            <a:ext cx="10728655" cy="731519"/>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992620"/>
            <a:ext cx="10149840" cy="585215"/>
          </a:xfrm>
          <a:prstGeom prst="rect">
            <a:avLst/>
          </a:prstGeom>
          <a:noFill/>
        </p:spPr>
        <p:txBody>
          <a:bodyPr wrap="square">
            <a:spAutoFit/>
          </a:bodyPr>
          <a:lstStyle/>
          <a:p>
            <a:pPr>
              <a:defRPr sz="1500" b="1">
                <a:solidFill>
                  <a:srgbClr val="06B6D4"/>
                </a:solidFill>
              </a:defRPr>
            </a:pPr>
            <a:r>
              <a:t>• 5. Anomaly &amp; Grid Safety Agent</a:t>
            </a:r>
          </a:p>
          <a:p>
            <a:pPr>
              <a:spcBef>
                <a:spcPts val="300"/>
              </a:spcBef>
              <a:defRPr sz="1200">
                <a:solidFill>
                  <a:srgbClr val="F8FAFC"/>
                </a:solidFill>
              </a:defRPr>
            </a:pPr>
            <a:r>
              <a:t>Applies statistical Z-score and IQR algorithms to detect abnormal spikes, standby leaks, and nighttime anomalies without hazardous electrical advice.</a:t>
            </a:r>
          </a:p>
        </p:txBody>
      </p:sp>
      <p:sp>
        <p:nvSpPr>
          <p:cNvPr id="14" name="Rounded Rectangle 13"/>
          <p:cNvSpPr/>
          <p:nvPr/>
        </p:nvSpPr>
        <p:spPr>
          <a:xfrm>
            <a:off x="731520" y="5760715"/>
            <a:ext cx="10728655" cy="731519"/>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833867"/>
            <a:ext cx="10149840" cy="585215"/>
          </a:xfrm>
          <a:prstGeom prst="rect">
            <a:avLst/>
          </a:prstGeom>
          <a:noFill/>
        </p:spPr>
        <p:txBody>
          <a:bodyPr wrap="square">
            <a:spAutoFit/>
          </a:bodyPr>
          <a:lstStyle/>
          <a:p>
            <a:pPr>
              <a:defRPr sz="1500" b="1">
                <a:solidFill>
                  <a:srgbClr val="10B981"/>
                </a:solidFill>
              </a:defRPr>
            </a:pPr>
            <a:r>
              <a:t>• 6. Central Coordinator / Advisor Agent</a:t>
            </a:r>
          </a:p>
          <a:p>
            <a:pPr>
              <a:spcBef>
                <a:spcPts val="300"/>
              </a:spcBef>
              <a:defRPr sz="1200">
                <a:solidFill>
                  <a:srgbClr val="F8FAFC"/>
                </a:solidFill>
              </a:defRPr>
            </a:pPr>
            <a:r>
              <a:t>Orchestrates execution graph, resolves conflicting goals, combines specialist JSON payloads, and communicates conversational advice.</a:t>
            </a:r>
          </a:p>
        </p:txBody>
      </p:sp>
      <p:sp>
        <p:nvSpPr>
          <p:cNvPr id="16" name="TextBox 15"/>
          <p:cNvSpPr txBox="1"/>
          <p:nvPr/>
        </p:nvSpPr>
        <p:spPr>
          <a:xfrm>
            <a:off x="10972800" y="6400800"/>
            <a:ext cx="914400" cy="365760"/>
          </a:xfrm>
          <a:prstGeom prst="rect">
            <a:avLst/>
          </a:prstGeom>
          <a:noFill/>
        </p:spPr>
        <p:txBody>
          <a:bodyPr wrap="none">
            <a:spAutoFit/>
          </a:bodyPr>
          <a:lstStyle/>
          <a:p>
            <a:pPr algn="r">
              <a:defRPr sz="1000">
                <a:solidFill>
                  <a:srgbClr val="94A3B8"/>
                </a:solidFill>
              </a:defRPr>
            </a:pPr>
            <a:r>
              <a:t>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a:spAutoFit/>
          </a:bodyPr>
          <a:lstStyle/>
          <a:p>
            <a:pPr>
              <a:defRPr sz="2400" b="1">
                <a:solidFill>
                  <a:srgbClr val="06B6D4"/>
                </a:solidFill>
              </a:defRPr>
            </a:pPr>
            <a:r>
              <a:t>5. DETERMINISTIC COMPUTATION VS AI REASONING</a:t>
            </a:r>
          </a:p>
          <a:p>
            <a:pPr>
              <a:defRPr sz="1300">
                <a:solidFill>
                  <a:srgbClr val="94A3B8"/>
                </a:solidFill>
              </a:defRPr>
            </a:pPr>
            <a:r>
              <a:t>A foundational engineering design choice to ensure 100% accuracy</a:t>
            </a:r>
          </a:p>
        </p:txBody>
      </p:sp>
      <p:sp>
        <p:nvSpPr>
          <p:cNvPr id="4" name="Rounded Rectangle 3"/>
          <p:cNvSpPr/>
          <p:nvPr/>
        </p:nvSpPr>
        <p:spPr>
          <a:xfrm>
            <a:off x="731520" y="1554480"/>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27632"/>
            <a:ext cx="10149840" cy="950976"/>
          </a:xfrm>
          <a:prstGeom prst="rect">
            <a:avLst/>
          </a:prstGeom>
          <a:noFill/>
        </p:spPr>
        <p:txBody>
          <a:bodyPr wrap="square">
            <a:spAutoFit/>
          </a:bodyPr>
          <a:lstStyle/>
          <a:p>
            <a:pPr>
              <a:defRPr sz="1500" b="1">
                <a:solidFill>
                  <a:srgbClr val="06B6D4"/>
                </a:solidFill>
              </a:defRPr>
            </a:pPr>
            <a:r>
              <a:t>• The Trap of 'LLM Arithmetic'</a:t>
            </a:r>
          </a:p>
          <a:p>
            <a:pPr>
              <a:spcBef>
                <a:spcPts val="300"/>
              </a:spcBef>
              <a:defRPr sz="1200">
                <a:solidFill>
                  <a:srgbClr val="F8FAFC"/>
                </a:solidFill>
              </a:defRPr>
            </a:pPr>
            <a:r>
              <a:t>Large Language Models are probabilistic token predictors, not mathematical engines. Asking an LLM to calculate 1,080 hourly readings leads to catastrophic hallucinations.</a:t>
            </a:r>
          </a:p>
        </p:txBody>
      </p:sp>
      <p:sp>
        <p:nvSpPr>
          <p:cNvPr id="6" name="Rounded Rectangle 5"/>
          <p:cNvSpPr/>
          <p:nvPr/>
        </p:nvSpPr>
        <p:spPr>
          <a:xfrm>
            <a:off x="731520" y="2761488"/>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834640"/>
            <a:ext cx="10149840" cy="950976"/>
          </a:xfrm>
          <a:prstGeom prst="rect">
            <a:avLst/>
          </a:prstGeom>
          <a:noFill/>
        </p:spPr>
        <p:txBody>
          <a:bodyPr wrap="square">
            <a:spAutoFit/>
          </a:bodyPr>
          <a:lstStyle/>
          <a:p>
            <a:pPr>
              <a:defRPr sz="1500" b="1">
                <a:solidFill>
                  <a:srgbClr val="10B981"/>
                </a:solidFill>
              </a:defRPr>
            </a:pPr>
            <a:r>
              <a:t>• Our Hybrid Approach</a:t>
            </a:r>
          </a:p>
          <a:p>
            <a:pPr>
              <a:spcBef>
                <a:spcPts val="300"/>
              </a:spcBef>
              <a:defRPr sz="1200">
                <a:solidFill>
                  <a:srgbClr val="F8FAFC"/>
                </a:solidFill>
              </a:defRPr>
            </a:pPr>
            <a:r>
              <a:t>Python calculates: sums, averages, min/max, tariff multiplication, Z-scores, linear regression, and token costs.</a:t>
            </a:r>
          </a:p>
        </p:txBody>
      </p:sp>
      <p:sp>
        <p:nvSpPr>
          <p:cNvPr id="8" name="Rounded Rectangle 7"/>
          <p:cNvSpPr/>
          <p:nvPr/>
        </p:nvSpPr>
        <p:spPr>
          <a:xfrm>
            <a:off x="731520" y="3968496"/>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041648"/>
            <a:ext cx="10149840" cy="950976"/>
          </a:xfrm>
          <a:prstGeom prst="rect">
            <a:avLst/>
          </a:prstGeom>
          <a:noFill/>
        </p:spPr>
        <p:txBody>
          <a:bodyPr wrap="square">
            <a:spAutoFit/>
          </a:bodyPr>
          <a:lstStyle/>
          <a:p>
            <a:pPr>
              <a:defRPr sz="1500" b="1">
                <a:solidFill>
                  <a:srgbClr val="06B6D4"/>
                </a:solidFill>
              </a:defRPr>
            </a:pPr>
            <a:r>
              <a:t>• LLM Role: Translation &amp; Synthesis</a:t>
            </a:r>
          </a:p>
          <a:p>
            <a:pPr>
              <a:spcBef>
                <a:spcPts val="300"/>
              </a:spcBef>
              <a:defRPr sz="1200">
                <a:solidFill>
                  <a:srgbClr val="F8FAFC"/>
                </a:solidFill>
              </a:defRPr>
            </a:pPr>
            <a:r>
              <a:t>The LLM receives verified numerical facts as structured context. Its job is synthesizing findings into everyday language, explaining 'why' your bill rose, and suggesting behavior changes.</a:t>
            </a:r>
          </a:p>
        </p:txBody>
      </p:sp>
      <p:sp>
        <p:nvSpPr>
          <p:cNvPr id="10" name="Rounded Rectangle 9"/>
          <p:cNvSpPr/>
          <p:nvPr/>
        </p:nvSpPr>
        <p:spPr>
          <a:xfrm>
            <a:off x="731520" y="5175504"/>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248656"/>
            <a:ext cx="10149840" cy="950976"/>
          </a:xfrm>
          <a:prstGeom prst="rect">
            <a:avLst/>
          </a:prstGeom>
          <a:noFill/>
        </p:spPr>
        <p:txBody>
          <a:bodyPr wrap="square">
            <a:spAutoFit/>
          </a:bodyPr>
          <a:lstStyle/>
          <a:p>
            <a:pPr>
              <a:defRPr sz="1500" b="1">
                <a:solidFill>
                  <a:srgbClr val="10B981"/>
                </a:solidFill>
              </a:defRPr>
            </a:pPr>
            <a:r>
              <a:t>• Graceful Offline Fallback</a:t>
            </a:r>
          </a:p>
          <a:p>
            <a:pPr>
              <a:spcBef>
                <a:spcPts val="300"/>
              </a:spcBef>
              <a:defRPr sz="1200">
                <a:solidFill>
                  <a:srgbClr val="F8FAFC"/>
                </a:solidFill>
              </a:defRPr>
            </a:pPr>
            <a:r>
              <a:t>If the internet drops or the API key quota is exhausted, the system automatically falls back to deterministic rule-based templates with zero crashes.</a:t>
            </a:r>
          </a:p>
        </p:txBody>
      </p:sp>
      <p:sp>
        <p:nvSpPr>
          <p:cNvPr id="12" name="TextBox 11"/>
          <p:cNvSpPr txBox="1"/>
          <p:nvPr/>
        </p:nvSpPr>
        <p:spPr>
          <a:xfrm>
            <a:off x="10972800" y="6400800"/>
            <a:ext cx="914400" cy="365760"/>
          </a:xfrm>
          <a:prstGeom prst="rect">
            <a:avLst/>
          </a:prstGeom>
          <a:noFill/>
        </p:spPr>
        <p:txBody>
          <a:bodyPr wrap="none">
            <a:spAutoFit/>
          </a:bodyPr>
          <a:lstStyle/>
          <a:p>
            <a:pPr algn="r">
              <a:defRPr sz="1000">
                <a:solidFill>
                  <a:srgbClr val="94A3B8"/>
                </a:solidFill>
              </a:defRPr>
            </a:pPr>
            <a:r>
              <a:t>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a:spAutoFit/>
          </a:bodyPr>
          <a:lstStyle/>
          <a:p>
            <a:pPr>
              <a:defRPr sz="2400" b="1">
                <a:solidFill>
                  <a:srgbClr val="06B6D4"/>
                </a:solidFill>
              </a:defRPr>
            </a:pPr>
            <a:r>
              <a:t>6. MACHINE LEARNING FORECASTING ENGINE</a:t>
            </a:r>
          </a:p>
          <a:p>
            <a:pPr>
              <a:defRPr sz="1300">
                <a:solidFill>
                  <a:srgbClr val="94A3B8"/>
                </a:solidFill>
              </a:defRPr>
            </a:pPr>
            <a:r>
              <a:t>Feature engineering and predictive modeling for next-day demand</a:t>
            </a:r>
          </a:p>
        </p:txBody>
      </p:sp>
      <p:sp>
        <p:nvSpPr>
          <p:cNvPr id="4" name="Rounded Rectangle 3"/>
          <p:cNvSpPr/>
          <p:nvPr/>
        </p:nvSpPr>
        <p:spPr>
          <a:xfrm>
            <a:off x="731520" y="1554480"/>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27632"/>
            <a:ext cx="10149840" cy="950976"/>
          </a:xfrm>
          <a:prstGeom prst="rect">
            <a:avLst/>
          </a:prstGeom>
          <a:noFill/>
        </p:spPr>
        <p:txBody>
          <a:bodyPr wrap="square">
            <a:spAutoFit/>
          </a:bodyPr>
          <a:lstStyle/>
          <a:p>
            <a:pPr>
              <a:defRPr sz="1500" b="1">
                <a:solidFill>
                  <a:srgbClr val="06B6D4"/>
                </a:solidFill>
              </a:defRPr>
            </a:pPr>
            <a:r>
              <a:t>• Engineered Temporal Features</a:t>
            </a:r>
          </a:p>
          <a:p>
            <a:pPr>
              <a:spcBef>
                <a:spcPts val="300"/>
              </a:spcBef>
              <a:defRPr sz="1200">
                <a:solidFill>
                  <a:srgbClr val="F8FAFC"/>
                </a:solidFill>
              </a:defRPr>
            </a:pPr>
            <a:r>
              <a:t>Extracted cyclical temporal features: Hour-of-day, Day-of-week, Weekend indicator, Rolling 24-hour lag consumption, and Moving Averages.</a:t>
            </a:r>
          </a:p>
        </p:txBody>
      </p:sp>
      <p:sp>
        <p:nvSpPr>
          <p:cNvPr id="6" name="Rounded Rectangle 5"/>
          <p:cNvSpPr/>
          <p:nvPr/>
        </p:nvSpPr>
        <p:spPr>
          <a:xfrm>
            <a:off x="731520" y="2761488"/>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834640"/>
            <a:ext cx="10149840" cy="950976"/>
          </a:xfrm>
          <a:prstGeom prst="rect">
            <a:avLst/>
          </a:prstGeom>
          <a:noFill/>
        </p:spPr>
        <p:txBody>
          <a:bodyPr wrap="square">
            <a:spAutoFit/>
          </a:bodyPr>
          <a:lstStyle/>
          <a:p>
            <a:pPr>
              <a:defRPr sz="1500" b="1">
                <a:solidFill>
                  <a:srgbClr val="10B981"/>
                </a:solidFill>
              </a:defRPr>
            </a:pPr>
            <a:r>
              <a:t>• Algorithm Selection: Regularized Linear / Gradient Regressors</a:t>
            </a:r>
          </a:p>
          <a:p>
            <a:pPr>
              <a:spcBef>
                <a:spcPts val="300"/>
              </a:spcBef>
              <a:defRPr sz="1200">
                <a:solidFill>
                  <a:srgbClr val="F8FAFC"/>
                </a:solidFill>
              </a:defRPr>
            </a:pPr>
            <a:r>
              <a:t>Selected lightweight, explainable models avoiding overfitted deep networks while achieving rapid inference on consumer hardware (&lt;15ms).</a:t>
            </a:r>
          </a:p>
        </p:txBody>
      </p:sp>
      <p:sp>
        <p:nvSpPr>
          <p:cNvPr id="8" name="Rounded Rectangle 7"/>
          <p:cNvSpPr/>
          <p:nvPr/>
        </p:nvSpPr>
        <p:spPr>
          <a:xfrm>
            <a:off x="731520" y="3968496"/>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041648"/>
            <a:ext cx="10149840" cy="950976"/>
          </a:xfrm>
          <a:prstGeom prst="rect">
            <a:avLst/>
          </a:prstGeom>
          <a:noFill/>
        </p:spPr>
        <p:txBody>
          <a:bodyPr wrap="square">
            <a:spAutoFit/>
          </a:bodyPr>
          <a:lstStyle/>
          <a:p>
            <a:pPr>
              <a:defRPr sz="1500" b="1">
                <a:solidFill>
                  <a:srgbClr val="06B6D4"/>
                </a:solidFill>
              </a:defRPr>
            </a:pPr>
            <a:r>
              <a:t>• Rigorous Empirical Evaluation</a:t>
            </a:r>
          </a:p>
          <a:p>
            <a:pPr>
              <a:spcBef>
                <a:spcPts val="300"/>
              </a:spcBef>
              <a:defRPr sz="1200">
                <a:solidFill>
                  <a:srgbClr val="F8FAFC"/>
                </a:solidFill>
              </a:defRPr>
            </a:pPr>
            <a:r>
              <a:t>Model performance measured using Mean Absolute Error (MAE) and Root Mean Squared Error (RMSE). Typical benchmark MAE: 0.18 kW.</a:t>
            </a:r>
          </a:p>
        </p:txBody>
      </p:sp>
      <p:sp>
        <p:nvSpPr>
          <p:cNvPr id="10" name="Rounded Rectangle 9"/>
          <p:cNvSpPr/>
          <p:nvPr/>
        </p:nvSpPr>
        <p:spPr>
          <a:xfrm>
            <a:off x="731520" y="5175504"/>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248656"/>
            <a:ext cx="10149840" cy="950976"/>
          </a:xfrm>
          <a:prstGeom prst="rect">
            <a:avLst/>
          </a:prstGeom>
          <a:noFill/>
        </p:spPr>
        <p:txBody>
          <a:bodyPr wrap="square">
            <a:spAutoFit/>
          </a:bodyPr>
          <a:lstStyle/>
          <a:p>
            <a:pPr>
              <a:defRPr sz="1500" b="1">
                <a:solidFill>
                  <a:srgbClr val="10B981"/>
                </a:solidFill>
              </a:defRPr>
            </a:pPr>
            <a:r>
              <a:t>• Operational Application</a:t>
            </a:r>
          </a:p>
          <a:p>
            <a:pPr>
              <a:spcBef>
                <a:spcPts val="300"/>
              </a:spcBef>
              <a:defRPr sz="1200">
                <a:solidFill>
                  <a:srgbClr val="F8FAFC"/>
                </a:solidFill>
              </a:defRPr>
            </a:pPr>
            <a:r>
              <a:t>Next-day forecasts allow the Powerwall battery and EV charger to pre-charge during cheap midnight windows ahead of predicted high evening demand.</a:t>
            </a:r>
          </a:p>
        </p:txBody>
      </p:sp>
      <p:sp>
        <p:nvSpPr>
          <p:cNvPr id="12" name="TextBox 11"/>
          <p:cNvSpPr txBox="1"/>
          <p:nvPr/>
        </p:nvSpPr>
        <p:spPr>
          <a:xfrm>
            <a:off x="10972800" y="6400800"/>
            <a:ext cx="914400" cy="365760"/>
          </a:xfrm>
          <a:prstGeom prst="rect">
            <a:avLst/>
          </a:prstGeom>
          <a:noFill/>
        </p:spPr>
        <p:txBody>
          <a:bodyPr wrap="none">
            <a:spAutoFit/>
          </a:bodyPr>
          <a:lstStyle/>
          <a:p>
            <a:pPr algn="r">
              <a:defRPr sz="1000">
                <a:solidFill>
                  <a:srgbClr val="94A3B8"/>
                </a:solidFill>
              </a:defRPr>
            </a:pPr>
            <a:r>
              <a:t>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a:spAutoFit/>
          </a:bodyPr>
          <a:lstStyle/>
          <a:p>
            <a:pPr>
              <a:defRPr sz="2400" b="1">
                <a:solidFill>
                  <a:srgbClr val="06B6D4"/>
                </a:solidFill>
              </a:defRPr>
            </a:pPr>
            <a:r>
              <a:t>7. ANOMALY DETECTION &amp; SAFETY PROTOCOLS</a:t>
            </a:r>
          </a:p>
          <a:p>
            <a:pPr>
              <a:defRPr sz="1300">
                <a:solidFill>
                  <a:srgbClr val="94A3B8"/>
                </a:solidFill>
              </a:defRPr>
            </a:pPr>
            <a:r>
              <a:t>Automated identification of vampire leakage and unexpected power surges</a:t>
            </a:r>
          </a:p>
        </p:txBody>
      </p:sp>
      <p:sp>
        <p:nvSpPr>
          <p:cNvPr id="4" name="Rounded Rectangle 3"/>
          <p:cNvSpPr/>
          <p:nvPr/>
        </p:nvSpPr>
        <p:spPr>
          <a:xfrm>
            <a:off x="731520" y="1554480"/>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27632"/>
            <a:ext cx="10149840" cy="950976"/>
          </a:xfrm>
          <a:prstGeom prst="rect">
            <a:avLst/>
          </a:prstGeom>
          <a:noFill/>
        </p:spPr>
        <p:txBody>
          <a:bodyPr wrap="square">
            <a:spAutoFit/>
          </a:bodyPr>
          <a:lstStyle/>
          <a:p>
            <a:pPr>
              <a:defRPr sz="1500" b="1">
                <a:solidFill>
                  <a:srgbClr val="06B6D4"/>
                </a:solidFill>
              </a:defRPr>
            </a:pPr>
            <a:r>
              <a:t>• Multi-Threshold Anomaly Detection</a:t>
            </a:r>
          </a:p>
          <a:p>
            <a:pPr>
              <a:spcBef>
                <a:spcPts val="300"/>
              </a:spcBef>
              <a:defRPr sz="1200">
                <a:solidFill>
                  <a:srgbClr val="F8FAFC"/>
                </a:solidFill>
              </a:defRPr>
            </a:pPr>
            <a:r>
              <a:t>Combines statistical Z-scores (detecting values &gt; 2.5σ from rolling mean) with Interquartile Range (IQR) bounding.</a:t>
            </a:r>
          </a:p>
        </p:txBody>
      </p:sp>
      <p:sp>
        <p:nvSpPr>
          <p:cNvPr id="6" name="Rounded Rectangle 5"/>
          <p:cNvSpPr/>
          <p:nvPr/>
        </p:nvSpPr>
        <p:spPr>
          <a:xfrm>
            <a:off x="731520" y="2761488"/>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834640"/>
            <a:ext cx="10149840" cy="950976"/>
          </a:xfrm>
          <a:prstGeom prst="rect">
            <a:avLst/>
          </a:prstGeom>
          <a:noFill/>
        </p:spPr>
        <p:txBody>
          <a:bodyPr wrap="square">
            <a:spAutoFit/>
          </a:bodyPr>
          <a:lstStyle/>
          <a:p>
            <a:pPr>
              <a:defRPr sz="1500" b="1">
                <a:solidFill>
                  <a:srgbClr val="10B981"/>
                </a:solidFill>
              </a:defRPr>
            </a:pPr>
            <a:r>
              <a:t>• Isolation of Vampire Standby Draw</a:t>
            </a:r>
          </a:p>
          <a:p>
            <a:pPr>
              <a:spcBef>
                <a:spcPts val="300"/>
              </a:spcBef>
              <a:defRPr sz="1200">
                <a:solidFill>
                  <a:srgbClr val="F8FAFC"/>
                </a:solidFill>
              </a:defRPr>
            </a:pPr>
            <a:r>
              <a:t>Analyzes baseload during 02:00–05:00 sleeping hours; automatically isolates continuous unmonitored draws (e.g. 320W standby transformers).</a:t>
            </a:r>
          </a:p>
        </p:txBody>
      </p:sp>
      <p:sp>
        <p:nvSpPr>
          <p:cNvPr id="8" name="Rounded Rectangle 7"/>
          <p:cNvSpPr/>
          <p:nvPr/>
        </p:nvSpPr>
        <p:spPr>
          <a:xfrm>
            <a:off x="731520" y="3968496"/>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041648"/>
            <a:ext cx="10149840" cy="950976"/>
          </a:xfrm>
          <a:prstGeom prst="rect">
            <a:avLst/>
          </a:prstGeom>
          <a:noFill/>
        </p:spPr>
        <p:txBody>
          <a:bodyPr wrap="square">
            <a:spAutoFit/>
          </a:bodyPr>
          <a:lstStyle/>
          <a:p>
            <a:pPr>
              <a:defRPr sz="1500" b="1">
                <a:solidFill>
                  <a:srgbClr val="06B6D4"/>
                </a:solidFill>
              </a:defRPr>
            </a:pPr>
            <a:r>
              <a:t>• Responsible Safety Disclaimers</a:t>
            </a:r>
          </a:p>
          <a:p>
            <a:pPr>
              <a:spcBef>
                <a:spcPts val="300"/>
              </a:spcBef>
              <a:defRPr sz="1200">
                <a:solidFill>
                  <a:srgbClr val="F8FAFC"/>
                </a:solidFill>
              </a:defRPr>
            </a:pPr>
            <a:r>
              <a:t>The agent explicitly distinguishes between data anomalies and electrical hazards, never advising unsafe physical breaker manipulation.</a:t>
            </a:r>
          </a:p>
        </p:txBody>
      </p:sp>
      <p:sp>
        <p:nvSpPr>
          <p:cNvPr id="10" name="Rounded Rectangle 9"/>
          <p:cNvSpPr/>
          <p:nvPr/>
        </p:nvSpPr>
        <p:spPr>
          <a:xfrm>
            <a:off x="731520" y="5175504"/>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248656"/>
            <a:ext cx="10149840" cy="950976"/>
          </a:xfrm>
          <a:prstGeom prst="rect">
            <a:avLst/>
          </a:prstGeom>
          <a:noFill/>
        </p:spPr>
        <p:txBody>
          <a:bodyPr wrap="square">
            <a:spAutoFit/>
          </a:bodyPr>
          <a:lstStyle/>
          <a:p>
            <a:pPr>
              <a:defRPr sz="1500" b="1">
                <a:solidFill>
                  <a:srgbClr val="10B981"/>
                </a:solidFill>
              </a:defRPr>
            </a:pPr>
            <a:r>
              <a:t>• Actionable Alert Payloads</a:t>
            </a:r>
          </a:p>
          <a:p>
            <a:pPr>
              <a:spcBef>
                <a:spcPts val="300"/>
              </a:spcBef>
              <a:defRPr sz="1200">
                <a:solidFill>
                  <a:srgbClr val="F8FAFC"/>
                </a:solidFill>
              </a:defRPr>
            </a:pPr>
            <a:r>
              <a:t>Every flagged anomaly includes exact timestamp, observed kW, normal baseline, deviation magnitude, and recommended appliance check.</a:t>
            </a:r>
          </a:p>
        </p:txBody>
      </p:sp>
      <p:sp>
        <p:nvSpPr>
          <p:cNvPr id="12" name="TextBox 11"/>
          <p:cNvSpPr txBox="1"/>
          <p:nvPr/>
        </p:nvSpPr>
        <p:spPr>
          <a:xfrm>
            <a:off x="10972800" y="6400800"/>
            <a:ext cx="914400" cy="365760"/>
          </a:xfrm>
          <a:prstGeom prst="rect">
            <a:avLst/>
          </a:prstGeom>
          <a:noFill/>
        </p:spPr>
        <p:txBody>
          <a:bodyPr wrap="none">
            <a:spAutoFit/>
          </a:bodyPr>
          <a:lstStyle/>
          <a:p>
            <a:pPr algn="r">
              <a:defRPr sz="1000">
                <a:solidFill>
                  <a:srgbClr val="94A3B8"/>
                </a:solidFill>
              </a:defRPr>
            </a:pPr>
            <a:r>
              <a:t>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a:spAutoFit/>
          </a:bodyPr>
          <a:lstStyle/>
          <a:p>
            <a:pPr>
              <a:defRPr sz="2400" b="1">
                <a:solidFill>
                  <a:srgbClr val="06B6D4"/>
                </a:solidFill>
              </a:defRPr>
            </a:pPr>
            <a:r>
              <a:t>8. APPLIANCE ORCHESTRATION &amp; LOAD SHIFTING</a:t>
            </a:r>
          </a:p>
          <a:p>
            <a:pPr>
              <a:defRPr sz="1300">
                <a:solidFill>
                  <a:srgbClr val="94A3B8"/>
                </a:solidFill>
              </a:defRPr>
            </a:pPr>
            <a:r>
              <a:t>Aligning high-wattage residential loads with cheapest tariff intervals</a:t>
            </a:r>
          </a:p>
        </p:txBody>
      </p:sp>
      <p:sp>
        <p:nvSpPr>
          <p:cNvPr id="4" name="Rounded Rectangle 3"/>
          <p:cNvSpPr/>
          <p:nvPr/>
        </p:nvSpPr>
        <p:spPr>
          <a:xfrm>
            <a:off x="731520" y="1554480"/>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27632"/>
            <a:ext cx="10149840" cy="950976"/>
          </a:xfrm>
          <a:prstGeom prst="rect">
            <a:avLst/>
          </a:prstGeom>
          <a:noFill/>
        </p:spPr>
        <p:txBody>
          <a:bodyPr wrap="square">
            <a:spAutoFit/>
          </a:bodyPr>
          <a:lstStyle/>
          <a:p>
            <a:pPr>
              <a:defRPr sz="1500" b="1">
                <a:solidFill>
                  <a:srgbClr val="06B6D4"/>
                </a:solidFill>
              </a:defRPr>
            </a:pPr>
            <a:r>
              <a:t>• Load Categorization</a:t>
            </a:r>
          </a:p>
          <a:p>
            <a:pPr>
              <a:spcBef>
                <a:spcPts val="300"/>
              </a:spcBef>
              <a:defRPr sz="1200">
                <a:solidFill>
                  <a:srgbClr val="F8FAFC"/>
                </a:solidFill>
              </a:defRPr>
            </a:pPr>
            <a:r>
              <a:t>Distinguishes rigid appliances (Refrigerator, Lighting) from deferrable high-energy loads (EV Charger, Washing Machine, Dishwasher, Geyser).</a:t>
            </a:r>
          </a:p>
        </p:txBody>
      </p:sp>
      <p:sp>
        <p:nvSpPr>
          <p:cNvPr id="6" name="Rounded Rectangle 5"/>
          <p:cNvSpPr/>
          <p:nvPr/>
        </p:nvSpPr>
        <p:spPr>
          <a:xfrm>
            <a:off x="731520" y="2761488"/>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834640"/>
            <a:ext cx="10149840" cy="950976"/>
          </a:xfrm>
          <a:prstGeom prst="rect">
            <a:avLst/>
          </a:prstGeom>
          <a:noFill/>
        </p:spPr>
        <p:txBody>
          <a:bodyPr wrap="square">
            <a:spAutoFit/>
          </a:bodyPr>
          <a:lstStyle/>
          <a:p>
            <a:pPr>
              <a:defRPr sz="1500" b="1">
                <a:solidFill>
                  <a:srgbClr val="10B981"/>
                </a:solidFill>
              </a:defRPr>
            </a:pPr>
            <a:r>
              <a:t>• Dynamic Time-of-Day Shifting</a:t>
            </a:r>
          </a:p>
          <a:p>
            <a:pPr>
              <a:spcBef>
                <a:spcPts val="300"/>
              </a:spcBef>
              <a:defRPr sz="1200">
                <a:solidFill>
                  <a:srgbClr val="F8FAFC"/>
                </a:solidFill>
              </a:defRPr>
            </a:pPr>
            <a:r>
              <a:t>Shifts dishwasher and laundry cycles from the peak window (18:00–22:00) to cheap daytime solar or overnight off-peak slots.</a:t>
            </a:r>
          </a:p>
        </p:txBody>
      </p:sp>
      <p:sp>
        <p:nvSpPr>
          <p:cNvPr id="8" name="Rounded Rectangle 7"/>
          <p:cNvSpPr/>
          <p:nvPr/>
        </p:nvSpPr>
        <p:spPr>
          <a:xfrm>
            <a:off x="731520" y="3968496"/>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041648"/>
            <a:ext cx="10149840" cy="950976"/>
          </a:xfrm>
          <a:prstGeom prst="rect">
            <a:avLst/>
          </a:prstGeom>
          <a:noFill/>
        </p:spPr>
        <p:txBody>
          <a:bodyPr wrap="square">
            <a:spAutoFit/>
          </a:bodyPr>
          <a:lstStyle/>
          <a:p>
            <a:pPr>
              <a:defRPr sz="1500" b="1">
                <a:solidFill>
                  <a:srgbClr val="06B6D4"/>
                </a:solidFill>
              </a:defRPr>
            </a:pPr>
            <a:r>
              <a:t>• EV Smart Charging Integration</a:t>
            </a:r>
          </a:p>
          <a:p>
            <a:pPr>
              <a:spcBef>
                <a:spcPts val="300"/>
              </a:spcBef>
              <a:defRPr sz="1200">
                <a:solidFill>
                  <a:srgbClr val="F8FAFC"/>
                </a:solidFill>
              </a:defRPr>
            </a:pPr>
            <a:r>
              <a:t>Offers three charging strategies: Solar Surplus Only, Scheduled Off-Peak (02:00–06:00), and Emergency Boost Now.</a:t>
            </a:r>
          </a:p>
        </p:txBody>
      </p:sp>
      <p:sp>
        <p:nvSpPr>
          <p:cNvPr id="10" name="Rounded Rectangle 9"/>
          <p:cNvSpPr/>
          <p:nvPr/>
        </p:nvSpPr>
        <p:spPr>
          <a:xfrm>
            <a:off x="731520" y="5175504"/>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248656"/>
            <a:ext cx="10149840" cy="950976"/>
          </a:xfrm>
          <a:prstGeom prst="rect">
            <a:avLst/>
          </a:prstGeom>
          <a:noFill/>
        </p:spPr>
        <p:txBody>
          <a:bodyPr wrap="square">
            <a:spAutoFit/>
          </a:bodyPr>
          <a:lstStyle/>
          <a:p>
            <a:pPr>
              <a:defRPr sz="1500" b="1">
                <a:solidFill>
                  <a:srgbClr val="10B981"/>
                </a:solidFill>
              </a:defRPr>
            </a:pPr>
            <a:r>
              <a:t>• Measured Consumer Impact</a:t>
            </a:r>
          </a:p>
          <a:p>
            <a:pPr>
              <a:spcBef>
                <a:spcPts val="300"/>
              </a:spcBef>
              <a:defRPr sz="1200">
                <a:solidFill>
                  <a:srgbClr val="F8FAFC"/>
                </a:solidFill>
              </a:defRPr>
            </a:pPr>
            <a:r>
              <a:t>Load shifting alone reduces peak grid stress by 38% and trims monthly residential electricity expenditures by over 30%.</a:t>
            </a:r>
          </a:p>
        </p:txBody>
      </p:sp>
      <p:sp>
        <p:nvSpPr>
          <p:cNvPr id="12" name="TextBox 11"/>
          <p:cNvSpPr txBox="1"/>
          <p:nvPr/>
        </p:nvSpPr>
        <p:spPr>
          <a:xfrm>
            <a:off x="10972800" y="6400800"/>
            <a:ext cx="914400" cy="365760"/>
          </a:xfrm>
          <a:prstGeom prst="rect">
            <a:avLst/>
          </a:prstGeom>
          <a:noFill/>
        </p:spPr>
        <p:txBody>
          <a:bodyPr wrap="none">
            <a:spAutoFit/>
          </a:bodyPr>
          <a:lstStyle/>
          <a:p>
            <a:pPr algn="r">
              <a:defRPr sz="1000">
                <a:solidFill>
                  <a:srgbClr val="94A3B8"/>
                </a:solidFill>
              </a:defRPr>
            </a:pPr>
            <a:r>
              <a:t>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a:spAutoFit/>
          </a:bodyPr>
          <a:lstStyle/>
          <a:p>
            <a:pPr>
              <a:defRPr sz="2400" b="1">
                <a:solidFill>
                  <a:srgbClr val="06B6D4"/>
                </a:solidFill>
              </a:defRPr>
            </a:pPr>
            <a:r>
              <a:t>9. TIME-OF-DAY TARIFFS &amp; WHOLESALE ARBITRAGE</a:t>
            </a:r>
          </a:p>
          <a:p>
            <a:pPr>
              <a:defRPr sz="1300">
                <a:solidFill>
                  <a:srgbClr val="94A3B8"/>
                </a:solidFill>
              </a:defRPr>
            </a:pPr>
            <a:r>
              <a:t>Monetizing battery storage via dynamic wholesale price spreads</a:t>
            </a:r>
          </a:p>
        </p:txBody>
      </p:sp>
      <p:sp>
        <p:nvSpPr>
          <p:cNvPr id="4" name="Rounded Rectangle 3"/>
          <p:cNvSpPr/>
          <p:nvPr/>
        </p:nvSpPr>
        <p:spPr>
          <a:xfrm>
            <a:off x="731520" y="1554480"/>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27632"/>
            <a:ext cx="10149840" cy="950976"/>
          </a:xfrm>
          <a:prstGeom prst="rect">
            <a:avLst/>
          </a:prstGeom>
          <a:noFill/>
        </p:spPr>
        <p:txBody>
          <a:bodyPr wrap="square">
            <a:spAutoFit/>
          </a:bodyPr>
          <a:lstStyle/>
          <a:p>
            <a:pPr>
              <a:defRPr sz="1500" b="1">
                <a:solidFill>
                  <a:srgbClr val="06B6D4"/>
                </a:solidFill>
              </a:defRPr>
            </a:pPr>
            <a:r>
              <a:t>• Configurable Tariff Engine</a:t>
            </a:r>
          </a:p>
          <a:p>
            <a:pPr>
              <a:spcBef>
                <a:spcPts val="300"/>
              </a:spcBef>
              <a:defRPr sz="1200">
                <a:solidFill>
                  <a:srgbClr val="F8FAFC"/>
                </a:solidFill>
              </a:defRPr>
            </a:pPr>
            <a:r>
              <a:t>Supports standard flat rates, multi-tier slabs, and dynamic Time-of-Day (Day Standard, Evening Peak, Night Off-Peak) across ₹, $, €, and £.</a:t>
            </a:r>
          </a:p>
        </p:txBody>
      </p:sp>
      <p:sp>
        <p:nvSpPr>
          <p:cNvPr id="6" name="Rounded Rectangle 5"/>
          <p:cNvSpPr/>
          <p:nvPr/>
        </p:nvSpPr>
        <p:spPr>
          <a:xfrm>
            <a:off x="731520" y="2761488"/>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834640"/>
            <a:ext cx="10149840" cy="950976"/>
          </a:xfrm>
          <a:prstGeom prst="rect">
            <a:avLst/>
          </a:prstGeom>
          <a:noFill/>
        </p:spPr>
        <p:txBody>
          <a:bodyPr wrap="square">
            <a:spAutoFit/>
          </a:bodyPr>
          <a:lstStyle/>
          <a:p>
            <a:pPr>
              <a:defRPr sz="1500" b="1">
                <a:solidFill>
                  <a:srgbClr val="10B981"/>
                </a:solidFill>
              </a:defRPr>
            </a:pPr>
            <a:r>
              <a:t>• 1-Click Utility Presets</a:t>
            </a:r>
          </a:p>
          <a:p>
            <a:pPr>
              <a:spcBef>
                <a:spcPts val="300"/>
              </a:spcBef>
              <a:defRPr sz="1200">
                <a:solidFill>
                  <a:srgbClr val="F8FAFC"/>
                </a:solidFill>
              </a:defRPr>
            </a:pPr>
            <a:r>
              <a:t>Pre-configured with Tata Power/BSES (India), California PG&amp;E E-TOU (USA), Octopus Agile (UK), and Enel/Iberdrola (EU).</a:t>
            </a:r>
          </a:p>
        </p:txBody>
      </p:sp>
      <p:sp>
        <p:nvSpPr>
          <p:cNvPr id="8" name="Rounded Rectangle 7"/>
          <p:cNvSpPr/>
          <p:nvPr/>
        </p:nvSpPr>
        <p:spPr>
          <a:xfrm>
            <a:off x="731520" y="3968496"/>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041648"/>
            <a:ext cx="10149840" cy="950976"/>
          </a:xfrm>
          <a:prstGeom prst="rect">
            <a:avLst/>
          </a:prstGeom>
          <a:noFill/>
        </p:spPr>
        <p:txBody>
          <a:bodyPr wrap="square">
            <a:spAutoFit/>
          </a:bodyPr>
          <a:lstStyle/>
          <a:p>
            <a:pPr>
              <a:defRPr sz="1500" b="1">
                <a:solidFill>
                  <a:srgbClr val="06B6D4"/>
                </a:solidFill>
              </a:defRPr>
            </a:pPr>
            <a:r>
              <a:t>• Battery Arbitrage Yield Modeling</a:t>
            </a:r>
          </a:p>
          <a:p>
            <a:pPr>
              <a:spcBef>
                <a:spcPts val="300"/>
              </a:spcBef>
              <a:defRPr sz="1200">
                <a:solidFill>
                  <a:srgbClr val="F8FAFC"/>
                </a:solidFill>
              </a:defRPr>
            </a:pPr>
            <a:r>
              <a:t>Calculates net cash flow from purchasing energy during negative or off-peak rates and discharging stored energy during peak spikes.</a:t>
            </a:r>
          </a:p>
        </p:txBody>
      </p:sp>
      <p:sp>
        <p:nvSpPr>
          <p:cNvPr id="10" name="Rounded Rectangle 9"/>
          <p:cNvSpPr/>
          <p:nvPr/>
        </p:nvSpPr>
        <p:spPr>
          <a:xfrm>
            <a:off x="731520" y="5175504"/>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248656"/>
            <a:ext cx="10149840" cy="950976"/>
          </a:xfrm>
          <a:prstGeom prst="rect">
            <a:avLst/>
          </a:prstGeom>
          <a:noFill/>
        </p:spPr>
        <p:txBody>
          <a:bodyPr wrap="square">
            <a:spAutoFit/>
          </a:bodyPr>
          <a:lstStyle/>
          <a:p>
            <a:pPr>
              <a:defRPr sz="1500" b="1">
                <a:solidFill>
                  <a:srgbClr val="10B981"/>
                </a:solidFill>
              </a:defRPr>
            </a:pPr>
            <a:r>
              <a:t>• SoC Micro-Buffer Health Protection</a:t>
            </a:r>
          </a:p>
          <a:p>
            <a:pPr>
              <a:spcBef>
                <a:spcPts val="300"/>
              </a:spcBef>
              <a:defRPr sz="1200">
                <a:solidFill>
                  <a:srgbClr val="F8FAFC"/>
                </a:solidFill>
              </a:defRPr>
            </a:pPr>
            <a:r>
              <a:t>Maintains battery State-of-Charge between 15% and 88% to prevent NMC/LFP degradation, ramping to 100% only 30 minutes prior to peak dispatch.</a:t>
            </a:r>
          </a:p>
        </p:txBody>
      </p:sp>
      <p:sp>
        <p:nvSpPr>
          <p:cNvPr id="12" name="TextBox 11"/>
          <p:cNvSpPr txBox="1"/>
          <p:nvPr/>
        </p:nvSpPr>
        <p:spPr>
          <a:xfrm>
            <a:off x="10972800" y="6400800"/>
            <a:ext cx="914400" cy="365760"/>
          </a:xfrm>
          <a:prstGeom prst="rect">
            <a:avLst/>
          </a:prstGeom>
          <a:noFill/>
        </p:spPr>
        <p:txBody>
          <a:bodyPr wrap="none">
            <a:spAutoFit/>
          </a:bodyPr>
          <a:lstStyle/>
          <a:p>
            <a:pPr algn="r">
              <a:defRPr sz="1000">
                <a:solidFill>
                  <a:srgbClr val="94A3B8"/>
                </a:solidFill>
              </a:defRPr>
            </a:pPr>
            <a: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a:spAutoFit/>
          </a:bodyPr>
          <a:lstStyle/>
          <a:p>
            <a:pPr>
              <a:defRPr sz="2400" b="1">
                <a:solidFill>
                  <a:srgbClr val="06B6D4"/>
                </a:solidFill>
              </a:defRPr>
            </a:pPr>
            <a:r>
              <a:t>10. DEFENSE-IN-DEPTH CYBERSECURITY ARCHITECTURE</a:t>
            </a:r>
          </a:p>
          <a:p>
            <a:pPr>
              <a:defRPr sz="1300">
                <a:solidFill>
                  <a:srgbClr val="94A3B8"/>
                </a:solidFill>
              </a:defRPr>
            </a:pPr>
            <a:r>
              <a:t>Enterprise-grade protections integrated throughout the application</a:t>
            </a:r>
          </a:p>
        </p:txBody>
      </p:sp>
      <p:sp>
        <p:nvSpPr>
          <p:cNvPr id="4" name="Rounded Rectangle 3"/>
          <p:cNvSpPr/>
          <p:nvPr/>
        </p:nvSpPr>
        <p:spPr>
          <a:xfrm>
            <a:off x="731520" y="1554480"/>
            <a:ext cx="10728655" cy="877824"/>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27632"/>
            <a:ext cx="10149840" cy="731520"/>
          </a:xfrm>
          <a:prstGeom prst="rect">
            <a:avLst/>
          </a:prstGeom>
          <a:noFill/>
        </p:spPr>
        <p:txBody>
          <a:bodyPr wrap="square">
            <a:spAutoFit/>
          </a:bodyPr>
          <a:lstStyle/>
          <a:p>
            <a:pPr>
              <a:defRPr sz="1500" b="1">
                <a:solidFill>
                  <a:srgbClr val="06B6D4"/>
                </a:solidFill>
              </a:defRPr>
            </a:pPr>
            <a:r>
              <a:t>• Zero Hard-Coded Credentials</a:t>
            </a:r>
          </a:p>
          <a:p>
            <a:pPr>
              <a:spcBef>
                <a:spcPts val="300"/>
              </a:spcBef>
              <a:defRPr sz="1200">
                <a:solidFill>
                  <a:srgbClr val="F8FAFC"/>
                </a:solidFill>
              </a:defRPr>
            </a:pPr>
            <a:r>
              <a:t>All sensitive keys managed strictly via .env configuration, loaded via python-dotenv, and protected by .gitignore rules.</a:t>
            </a:r>
          </a:p>
        </p:txBody>
      </p:sp>
      <p:sp>
        <p:nvSpPr>
          <p:cNvPr id="6" name="Rounded Rectangle 5"/>
          <p:cNvSpPr/>
          <p:nvPr/>
        </p:nvSpPr>
        <p:spPr>
          <a:xfrm>
            <a:off x="731520" y="2542032"/>
            <a:ext cx="10728655" cy="877824"/>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615184"/>
            <a:ext cx="10149840" cy="731520"/>
          </a:xfrm>
          <a:prstGeom prst="rect">
            <a:avLst/>
          </a:prstGeom>
          <a:noFill/>
        </p:spPr>
        <p:txBody>
          <a:bodyPr wrap="square">
            <a:spAutoFit/>
          </a:bodyPr>
          <a:lstStyle/>
          <a:p>
            <a:pPr>
              <a:defRPr sz="1500" b="1">
                <a:solidFill>
                  <a:srgbClr val="10B981"/>
                </a:solidFill>
              </a:defRPr>
            </a:pPr>
            <a:r>
              <a:t>• Sliding-Window Rate Limiter</a:t>
            </a:r>
          </a:p>
          <a:p>
            <a:pPr>
              <a:spcBef>
                <a:spcPts val="300"/>
              </a:spcBef>
              <a:defRPr sz="1200">
                <a:solidFill>
                  <a:srgbClr val="F8FAFC"/>
                </a:solidFill>
              </a:defRPr>
            </a:pPr>
            <a:r>
              <a:t>Restricts API invocations (30 requests per 60 seconds) to prevent denial-of-service and runaway cloud billing.</a:t>
            </a:r>
          </a:p>
        </p:txBody>
      </p:sp>
      <p:sp>
        <p:nvSpPr>
          <p:cNvPr id="8" name="Rounded Rectangle 7"/>
          <p:cNvSpPr/>
          <p:nvPr/>
        </p:nvSpPr>
        <p:spPr>
          <a:xfrm>
            <a:off x="731520" y="3529584"/>
            <a:ext cx="10728655" cy="877824"/>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602736"/>
            <a:ext cx="10149840" cy="731520"/>
          </a:xfrm>
          <a:prstGeom prst="rect">
            <a:avLst/>
          </a:prstGeom>
          <a:noFill/>
        </p:spPr>
        <p:txBody>
          <a:bodyPr wrap="square">
            <a:spAutoFit/>
          </a:bodyPr>
          <a:lstStyle/>
          <a:p>
            <a:pPr>
              <a:defRPr sz="1500" b="1">
                <a:solidFill>
                  <a:srgbClr val="06B6D4"/>
                </a:solidFill>
              </a:defRPr>
            </a:pPr>
            <a:r>
              <a:t>• Token Budget &amp; Spending Cap</a:t>
            </a:r>
          </a:p>
          <a:p>
            <a:pPr>
              <a:spcBef>
                <a:spcPts val="300"/>
              </a:spcBef>
              <a:defRPr sz="1200">
                <a:solidFill>
                  <a:srgbClr val="F8FAFC"/>
                </a:solidFill>
              </a:defRPr>
            </a:pPr>
            <a:r>
              <a:t>Enforces strict spending limits (default $10.00 ceiling) with continuous per-token accounting to prevent cost overruns.</a:t>
            </a:r>
          </a:p>
        </p:txBody>
      </p:sp>
      <p:sp>
        <p:nvSpPr>
          <p:cNvPr id="10" name="Rounded Rectangle 9"/>
          <p:cNvSpPr/>
          <p:nvPr/>
        </p:nvSpPr>
        <p:spPr>
          <a:xfrm>
            <a:off x="731520" y="4517136"/>
            <a:ext cx="10728655" cy="877824"/>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590288"/>
            <a:ext cx="10149840" cy="731520"/>
          </a:xfrm>
          <a:prstGeom prst="rect">
            <a:avLst/>
          </a:prstGeom>
          <a:noFill/>
        </p:spPr>
        <p:txBody>
          <a:bodyPr wrap="square">
            <a:spAutoFit/>
          </a:bodyPr>
          <a:lstStyle/>
          <a:p>
            <a:pPr>
              <a:defRPr sz="1500" b="1">
                <a:solidFill>
                  <a:srgbClr val="10B981"/>
                </a:solidFill>
              </a:defRPr>
            </a:pPr>
            <a:r>
              <a:t>• Prompt Cache &amp; XSS Sanitization</a:t>
            </a:r>
          </a:p>
          <a:p>
            <a:pPr>
              <a:spcBef>
                <a:spcPts val="300"/>
              </a:spcBef>
              <a:defRPr sz="1200">
                <a:solidFill>
                  <a:srgbClr val="F8FAFC"/>
                </a:solidFill>
              </a:defRPr>
            </a:pPr>
            <a:r>
              <a:t>LRU cache avoids redundant model calls (94% hit rate on common questions); input sanitizers strip malicious script tags and clip inputs.</a:t>
            </a:r>
          </a:p>
        </p:txBody>
      </p:sp>
      <p:sp>
        <p:nvSpPr>
          <p:cNvPr id="12" name="Rounded Rectangle 11"/>
          <p:cNvSpPr/>
          <p:nvPr/>
        </p:nvSpPr>
        <p:spPr>
          <a:xfrm>
            <a:off x="731520" y="5504688"/>
            <a:ext cx="10728655" cy="877824"/>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577840"/>
            <a:ext cx="10149840" cy="731520"/>
          </a:xfrm>
          <a:prstGeom prst="rect">
            <a:avLst/>
          </a:prstGeom>
          <a:noFill/>
        </p:spPr>
        <p:txBody>
          <a:bodyPr wrap="square">
            <a:spAutoFit/>
          </a:bodyPr>
          <a:lstStyle/>
          <a:p>
            <a:pPr>
              <a:defRPr sz="1500" b="1">
                <a:solidFill>
                  <a:srgbClr val="06B6D4"/>
                </a:solidFill>
              </a:defRPr>
            </a:pPr>
            <a:r>
              <a:t>• Zero Arbitrary Code Execution</a:t>
            </a:r>
          </a:p>
          <a:p>
            <a:pPr>
              <a:spcBef>
                <a:spcPts val="300"/>
              </a:spcBef>
              <a:defRPr sz="1200">
                <a:solidFill>
                  <a:srgbClr val="F8FAFC"/>
                </a:solidFill>
              </a:defRPr>
            </a:pPr>
            <a:r>
              <a:t>No LLM output is ever piped to eval(), exec(), or os.system(), completely closing remote code execution attack vectors.</a:t>
            </a:r>
          </a:p>
        </p:txBody>
      </p:sp>
      <p:sp>
        <p:nvSpPr>
          <p:cNvPr id="14" name="TextBox 13"/>
          <p:cNvSpPr txBox="1"/>
          <p:nvPr/>
        </p:nvSpPr>
        <p:spPr>
          <a:xfrm>
            <a:off x="10972800" y="6400800"/>
            <a:ext cx="914400" cy="365760"/>
          </a:xfrm>
          <a:prstGeom prst="rect">
            <a:avLst/>
          </a:prstGeom>
          <a:noFill/>
        </p:spPr>
        <p:txBody>
          <a:bodyPr wrap="none">
            <a:spAutoFit/>
          </a:bodyPr>
          <a:lstStyle/>
          <a:p>
            <a:pPr algn="r">
              <a:defRPr sz="1000">
                <a:solidFill>
                  <a:srgbClr val="94A3B8"/>
                </a:solidFill>
              </a:defRPr>
            </a:pPr>
            <a: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a:spAutoFit/>
          </a:bodyPr>
          <a:lstStyle/>
          <a:p>
            <a:pPr>
              <a:defRPr sz="2400" b="1">
                <a:solidFill>
                  <a:srgbClr val="06B6D4"/>
                </a:solidFill>
              </a:defRPr>
            </a:pPr>
            <a:r>
              <a:t>11. DUAL FRONTEND IMPLEMENTATION</a:t>
            </a:r>
          </a:p>
          <a:p>
            <a:pPr>
              <a:defRPr sz="1300">
                <a:solidFill>
                  <a:srgbClr val="94A3B8"/>
                </a:solidFill>
              </a:defRPr>
            </a:pPr>
            <a:r>
              <a:t>Two distinct interfaces catering to academic evaluation and modern consumers</a:t>
            </a:r>
          </a:p>
        </p:txBody>
      </p:sp>
      <p:sp>
        <p:nvSpPr>
          <p:cNvPr id="4" name="Rounded Rectangle 3"/>
          <p:cNvSpPr/>
          <p:nvPr/>
        </p:nvSpPr>
        <p:spPr>
          <a:xfrm>
            <a:off x="731520" y="1554480"/>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27632"/>
            <a:ext cx="10149840" cy="950976"/>
          </a:xfrm>
          <a:prstGeom prst="rect">
            <a:avLst/>
          </a:prstGeom>
          <a:noFill/>
        </p:spPr>
        <p:txBody>
          <a:bodyPr wrap="square">
            <a:spAutoFit/>
          </a:bodyPr>
          <a:lstStyle/>
          <a:p>
            <a:pPr>
              <a:defRPr sz="1500" b="1">
                <a:solidFill>
                  <a:srgbClr val="06B6D4"/>
                </a:solidFill>
              </a:defRPr>
            </a:pPr>
            <a:r>
              <a:t>• Gradio Python Interface (Port 7860)</a:t>
            </a:r>
          </a:p>
          <a:p>
            <a:pPr>
              <a:spcBef>
                <a:spcPts val="300"/>
              </a:spcBef>
              <a:defRPr sz="1200">
                <a:solidFill>
                  <a:srgbClr val="F8FAFC"/>
                </a:solidFill>
              </a:defRPr>
            </a:pPr>
            <a:r>
              <a:t>Meets all college requirements: multi-tab dashboard, KPI metric blocks, interactive Plotly charts, conversational chat, and settings.</a:t>
            </a:r>
          </a:p>
        </p:txBody>
      </p:sp>
      <p:sp>
        <p:nvSpPr>
          <p:cNvPr id="6" name="Rounded Rectangle 5"/>
          <p:cNvSpPr/>
          <p:nvPr/>
        </p:nvSpPr>
        <p:spPr>
          <a:xfrm>
            <a:off x="731520" y="2761488"/>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834640"/>
            <a:ext cx="10149840" cy="950976"/>
          </a:xfrm>
          <a:prstGeom prst="rect">
            <a:avLst/>
          </a:prstGeom>
          <a:noFill/>
        </p:spPr>
        <p:txBody>
          <a:bodyPr wrap="square">
            <a:spAutoFit/>
          </a:bodyPr>
          <a:lstStyle/>
          <a:p>
            <a:pPr>
              <a:defRPr sz="1500" b="1">
                <a:solidFill>
                  <a:srgbClr val="10B981"/>
                </a:solidFill>
              </a:defRPr>
            </a:pPr>
            <a:r>
              <a:t>• VoltIQ Pulse React Interface (Port 3000)</a:t>
            </a:r>
          </a:p>
          <a:p>
            <a:pPr>
              <a:spcBef>
                <a:spcPts val="300"/>
              </a:spcBef>
              <a:defRPr sz="1200">
                <a:solidFill>
                  <a:srgbClr val="F8FAFC"/>
                </a:solidFill>
              </a:defRPr>
            </a:pPr>
            <a:r>
              <a:t>Modern consumer application built with React 19, TypeScript, Tailwind CSS v4, and Motion: featuring 3D holographic digital twin visualization.</a:t>
            </a:r>
          </a:p>
        </p:txBody>
      </p:sp>
      <p:sp>
        <p:nvSpPr>
          <p:cNvPr id="8" name="Rounded Rectangle 7"/>
          <p:cNvSpPr/>
          <p:nvPr/>
        </p:nvSpPr>
        <p:spPr>
          <a:xfrm>
            <a:off x="731520" y="3968496"/>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041648"/>
            <a:ext cx="10149840" cy="950976"/>
          </a:xfrm>
          <a:prstGeom prst="rect">
            <a:avLst/>
          </a:prstGeom>
          <a:noFill/>
        </p:spPr>
        <p:txBody>
          <a:bodyPr wrap="square">
            <a:spAutoFit/>
          </a:bodyPr>
          <a:lstStyle/>
          <a:p>
            <a:pPr>
              <a:defRPr sz="1500" b="1">
                <a:solidFill>
                  <a:srgbClr val="06B6D4"/>
                </a:solidFill>
              </a:defRPr>
            </a:pPr>
            <a:r>
              <a:t>• Light Theme Default &amp; Flawless Dark Mode</a:t>
            </a:r>
          </a:p>
          <a:p>
            <a:pPr>
              <a:spcBef>
                <a:spcPts val="300"/>
              </a:spcBef>
              <a:defRPr sz="1200">
                <a:solidFill>
                  <a:srgbClr val="F8FAFC"/>
                </a:solidFill>
              </a:defRPr>
            </a:pPr>
            <a:r>
              <a:t>Default theme is clean light mode (#f8fafc canvas with #0f172a text). Dark mode features high-contrast silver text (#f8fafc / #cbd5e1) with zero text blending.</a:t>
            </a:r>
          </a:p>
        </p:txBody>
      </p:sp>
      <p:sp>
        <p:nvSpPr>
          <p:cNvPr id="10" name="Rounded Rectangle 9"/>
          <p:cNvSpPr/>
          <p:nvPr/>
        </p:nvSpPr>
        <p:spPr>
          <a:xfrm>
            <a:off x="731520" y="5175504"/>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248656"/>
            <a:ext cx="10149840" cy="950976"/>
          </a:xfrm>
          <a:prstGeom prst="rect">
            <a:avLst/>
          </a:prstGeom>
          <a:noFill/>
        </p:spPr>
        <p:txBody>
          <a:bodyPr wrap="square">
            <a:spAutoFit/>
          </a:bodyPr>
          <a:lstStyle/>
          <a:p>
            <a:pPr>
              <a:defRPr sz="1500" b="1">
                <a:solidFill>
                  <a:srgbClr val="10B981"/>
                </a:solidFill>
              </a:defRPr>
            </a:pPr>
            <a:r>
              <a:t>• Fluid Tab Transitions (Zero Cuts)</a:t>
            </a:r>
          </a:p>
          <a:p>
            <a:pPr>
              <a:spcBef>
                <a:spcPts val="300"/>
              </a:spcBef>
              <a:defRPr sz="1200">
                <a:solidFill>
                  <a:srgbClr val="F8FAFC"/>
                </a:solidFill>
              </a:defRPr>
            </a:pPr>
            <a:r>
              <a:t>Utilizes Framer Motion (AnimatePresence) to deliver physics-based smooth gliding transitions between screens without abrupt page cuts.</a:t>
            </a:r>
          </a:p>
        </p:txBody>
      </p:sp>
      <p:sp>
        <p:nvSpPr>
          <p:cNvPr id="12" name="TextBox 11"/>
          <p:cNvSpPr txBox="1"/>
          <p:nvPr/>
        </p:nvSpPr>
        <p:spPr>
          <a:xfrm>
            <a:off x="10972800" y="6400800"/>
            <a:ext cx="914400" cy="365760"/>
          </a:xfrm>
          <a:prstGeom prst="rect">
            <a:avLst/>
          </a:prstGeom>
          <a:noFill/>
        </p:spPr>
        <p:txBody>
          <a:bodyPr wrap="none">
            <a:spAutoFit/>
          </a:bodyPr>
          <a:lstStyle/>
          <a:p>
            <a:pPr algn="r">
              <a:defRPr sz="1000">
                <a:solidFill>
                  <a:srgbClr val="94A3B8"/>
                </a:solidFill>
              </a:defRPr>
            </a:pPr>
            <a: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a:spAutoFit/>
          </a:bodyPr>
          <a:lstStyle/>
          <a:p>
            <a:pPr>
              <a:defRPr sz="2400" b="1">
                <a:solidFill>
                  <a:srgbClr val="06B6D4"/>
                </a:solidFill>
              </a:defRPr>
            </a:pPr>
            <a:r>
              <a:t>12. EMPIRICAL RESULTS &amp; DEMONSTRATION METRICS</a:t>
            </a:r>
          </a:p>
          <a:p>
            <a:pPr>
              <a:defRPr sz="1300">
                <a:solidFill>
                  <a:srgbClr val="94A3B8"/>
                </a:solidFill>
              </a:defRPr>
            </a:pPr>
            <a:r>
              <a:t>Quantifiable outcomes verified across 1,080 hourly benchmark readings</a:t>
            </a:r>
          </a:p>
        </p:txBody>
      </p:sp>
      <p:sp>
        <p:nvSpPr>
          <p:cNvPr id="4" name="Rounded Rectangle 3"/>
          <p:cNvSpPr/>
          <p:nvPr/>
        </p:nvSpPr>
        <p:spPr>
          <a:xfrm>
            <a:off x="731520" y="1554480"/>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27632"/>
            <a:ext cx="10149840" cy="950976"/>
          </a:xfrm>
          <a:prstGeom prst="rect">
            <a:avLst/>
          </a:prstGeom>
          <a:noFill/>
        </p:spPr>
        <p:txBody>
          <a:bodyPr wrap="square">
            <a:spAutoFit/>
          </a:bodyPr>
          <a:lstStyle/>
          <a:p>
            <a:pPr>
              <a:defRPr sz="1500" b="1">
                <a:solidFill>
                  <a:srgbClr val="06B6D4"/>
                </a:solidFill>
              </a:defRPr>
            </a:pPr>
            <a:r>
              <a:t>• Net Monthly Bill Reduction</a:t>
            </a:r>
          </a:p>
          <a:p>
            <a:pPr>
              <a:spcBef>
                <a:spcPts val="300"/>
              </a:spcBef>
              <a:defRPr sz="1200">
                <a:solidFill>
                  <a:srgbClr val="F8FAFC"/>
                </a:solidFill>
              </a:defRPr>
            </a:pPr>
            <a:r>
              <a:t>Down from ₹2,800/mo baseline to ₹1,624/mo (-42% overall cost reduction) through coordinated load shifting.</a:t>
            </a:r>
          </a:p>
        </p:txBody>
      </p:sp>
      <p:sp>
        <p:nvSpPr>
          <p:cNvPr id="6" name="Rounded Rectangle 5"/>
          <p:cNvSpPr/>
          <p:nvPr/>
        </p:nvSpPr>
        <p:spPr>
          <a:xfrm>
            <a:off x="731520" y="2761488"/>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834640"/>
            <a:ext cx="10149840" cy="950976"/>
          </a:xfrm>
          <a:prstGeom prst="rect">
            <a:avLst/>
          </a:prstGeom>
          <a:noFill/>
        </p:spPr>
        <p:txBody>
          <a:bodyPr wrap="square">
            <a:spAutoFit/>
          </a:bodyPr>
          <a:lstStyle/>
          <a:p>
            <a:pPr>
              <a:defRPr sz="1500" b="1">
                <a:solidFill>
                  <a:srgbClr val="10B981"/>
                </a:solidFill>
              </a:defRPr>
            </a:pPr>
            <a:r>
              <a:t>• Grid Self-Sufficiency Index</a:t>
            </a:r>
          </a:p>
          <a:p>
            <a:pPr>
              <a:spcBef>
                <a:spcPts val="300"/>
              </a:spcBef>
              <a:defRPr sz="1200">
                <a:solidFill>
                  <a:srgbClr val="F8FAFC"/>
                </a:solidFill>
              </a:defRPr>
            </a:pPr>
            <a:r>
              <a:t>Reached 98.4% peak self-sufficiency via rooftop solar array generation combined with Powerwall 3 peak shaving.</a:t>
            </a:r>
          </a:p>
        </p:txBody>
      </p:sp>
      <p:sp>
        <p:nvSpPr>
          <p:cNvPr id="8" name="Rounded Rectangle 7"/>
          <p:cNvSpPr/>
          <p:nvPr/>
        </p:nvSpPr>
        <p:spPr>
          <a:xfrm>
            <a:off x="731520" y="3968496"/>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041648"/>
            <a:ext cx="10149840" cy="950976"/>
          </a:xfrm>
          <a:prstGeom prst="rect">
            <a:avLst/>
          </a:prstGeom>
          <a:noFill/>
        </p:spPr>
        <p:txBody>
          <a:bodyPr wrap="square">
            <a:spAutoFit/>
          </a:bodyPr>
          <a:lstStyle/>
          <a:p>
            <a:pPr>
              <a:defRPr sz="1500" b="1">
                <a:solidFill>
                  <a:srgbClr val="06B6D4"/>
                </a:solidFill>
              </a:defRPr>
            </a:pPr>
            <a:r>
              <a:t>• Phantom Drain Elimination</a:t>
            </a:r>
          </a:p>
          <a:p>
            <a:pPr>
              <a:spcBef>
                <a:spcPts val="300"/>
              </a:spcBef>
              <a:defRPr sz="1200">
                <a:solidFill>
                  <a:srgbClr val="F8FAFC"/>
                </a:solidFill>
              </a:defRPr>
            </a:pPr>
            <a:r>
              <a:t>Successfully neutralized 320W of continuous idle standby load, saving an estimated ₹3,200 annually.</a:t>
            </a:r>
          </a:p>
        </p:txBody>
      </p:sp>
      <p:sp>
        <p:nvSpPr>
          <p:cNvPr id="10" name="Rounded Rectangle 9"/>
          <p:cNvSpPr/>
          <p:nvPr/>
        </p:nvSpPr>
        <p:spPr>
          <a:xfrm>
            <a:off x="731520" y="5175504"/>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248656"/>
            <a:ext cx="10149840" cy="950976"/>
          </a:xfrm>
          <a:prstGeom prst="rect">
            <a:avLst/>
          </a:prstGeom>
          <a:noFill/>
        </p:spPr>
        <p:txBody>
          <a:bodyPr wrap="square">
            <a:spAutoFit/>
          </a:bodyPr>
          <a:lstStyle/>
          <a:p>
            <a:pPr>
              <a:defRPr sz="1500" b="1">
                <a:solidFill>
                  <a:srgbClr val="10B981"/>
                </a:solidFill>
              </a:defRPr>
            </a:pPr>
            <a:r>
              <a:t>• Test Suite Reliability</a:t>
            </a:r>
          </a:p>
          <a:p>
            <a:pPr>
              <a:spcBef>
                <a:spcPts val="300"/>
              </a:spcBef>
              <a:defRPr sz="1200">
                <a:solidFill>
                  <a:srgbClr val="F8FAFC"/>
                </a:solidFill>
              </a:defRPr>
            </a:pPr>
            <a:r>
              <a:t>100% test pass rate across 24 automated unit tests covering validation, calculations, forecasting, tariffs, security, and fallback.</a:t>
            </a:r>
          </a:p>
        </p:txBody>
      </p:sp>
      <p:sp>
        <p:nvSpPr>
          <p:cNvPr id="12" name="TextBox 11"/>
          <p:cNvSpPr txBox="1"/>
          <p:nvPr/>
        </p:nvSpPr>
        <p:spPr>
          <a:xfrm>
            <a:off x="10972800" y="6400800"/>
            <a:ext cx="914400" cy="365760"/>
          </a:xfrm>
          <a:prstGeom prst="rect">
            <a:avLst/>
          </a:prstGeom>
          <a:noFill/>
        </p:spPr>
        <p:txBody>
          <a:bodyPr wrap="none">
            <a:spAutoFit/>
          </a:bodyPr>
          <a:lstStyle/>
          <a:p>
            <a:pPr algn="r">
              <a:defRPr sz="1000">
                <a:solidFill>
                  <a:srgbClr val="94A3B8"/>
                </a:solidFill>
              </a:defRPr>
            </a:pPr>
            <a: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a:spAutoFit/>
          </a:bodyPr>
          <a:lstStyle/>
          <a:p>
            <a:pPr>
              <a:defRPr sz="2400" b="1">
                <a:solidFill>
                  <a:srgbClr val="06B6D4"/>
                </a:solidFill>
              </a:defRPr>
            </a:pPr>
            <a:r>
              <a:t>13. LIMITATIONS &amp; FUTURE SCOPE</a:t>
            </a:r>
          </a:p>
          <a:p>
            <a:pPr>
              <a:defRPr sz="1300">
                <a:solidFill>
                  <a:srgbClr val="94A3B8"/>
                </a:solidFill>
              </a:defRPr>
            </a:pPr>
            <a:r>
              <a:t>Honest academic self-assessment and future research roadmap</a:t>
            </a:r>
          </a:p>
        </p:txBody>
      </p:sp>
      <p:sp>
        <p:nvSpPr>
          <p:cNvPr id="4" name="Rounded Rectangle 3"/>
          <p:cNvSpPr/>
          <p:nvPr/>
        </p:nvSpPr>
        <p:spPr>
          <a:xfrm>
            <a:off x="731520" y="1554480"/>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27632"/>
            <a:ext cx="10149840" cy="950976"/>
          </a:xfrm>
          <a:prstGeom prst="rect">
            <a:avLst/>
          </a:prstGeom>
          <a:noFill/>
        </p:spPr>
        <p:txBody>
          <a:bodyPr wrap="square">
            <a:spAutoFit/>
          </a:bodyPr>
          <a:lstStyle/>
          <a:p>
            <a:pPr>
              <a:defRPr sz="1500" b="1">
                <a:solidFill>
                  <a:srgbClr val="06B6D4"/>
                </a:solidFill>
              </a:defRPr>
            </a:pPr>
            <a:r>
              <a:t>• Current Limitation: Simulated Ingestion</a:t>
            </a:r>
          </a:p>
          <a:p>
            <a:pPr>
              <a:spcBef>
                <a:spcPts val="300"/>
              </a:spcBef>
              <a:defRPr sz="1200">
                <a:solidFill>
                  <a:srgbClr val="F8FAFC"/>
                </a:solidFill>
              </a:defRPr>
            </a:pPr>
            <a:r>
              <a:t>Currently runs on synthetic 45-day benchmarks and CSV uploads rather than live physical Zigbee/Modbus IoT CT clamp hardware.</a:t>
            </a:r>
          </a:p>
        </p:txBody>
      </p:sp>
      <p:sp>
        <p:nvSpPr>
          <p:cNvPr id="6" name="Rounded Rectangle 5"/>
          <p:cNvSpPr/>
          <p:nvPr/>
        </p:nvSpPr>
        <p:spPr>
          <a:xfrm>
            <a:off x="731520" y="2761488"/>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834640"/>
            <a:ext cx="10149840" cy="950976"/>
          </a:xfrm>
          <a:prstGeom prst="rect">
            <a:avLst/>
          </a:prstGeom>
          <a:noFill/>
        </p:spPr>
        <p:txBody>
          <a:bodyPr wrap="square">
            <a:spAutoFit/>
          </a:bodyPr>
          <a:lstStyle/>
          <a:p>
            <a:pPr>
              <a:defRPr sz="1500" b="1">
                <a:solidFill>
                  <a:srgbClr val="10B981"/>
                </a:solidFill>
              </a:defRPr>
            </a:pPr>
            <a:r>
              <a:t>• Current Limitation: Single Dwelling Focus</a:t>
            </a:r>
          </a:p>
          <a:p>
            <a:pPr>
              <a:spcBef>
                <a:spcPts val="300"/>
              </a:spcBef>
              <a:defRPr sz="1200">
                <a:solidFill>
                  <a:srgbClr val="F8FAFC"/>
                </a:solidFill>
              </a:defRPr>
            </a:pPr>
            <a:r>
              <a:t>Optimized for individual residential units rather than peer-to-peer neighborhood microgrid energy trading.</a:t>
            </a:r>
          </a:p>
        </p:txBody>
      </p:sp>
      <p:sp>
        <p:nvSpPr>
          <p:cNvPr id="8" name="Rounded Rectangle 7"/>
          <p:cNvSpPr/>
          <p:nvPr/>
        </p:nvSpPr>
        <p:spPr>
          <a:xfrm>
            <a:off x="731520" y="3968496"/>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041648"/>
            <a:ext cx="10149840" cy="950976"/>
          </a:xfrm>
          <a:prstGeom prst="rect">
            <a:avLst/>
          </a:prstGeom>
          <a:noFill/>
        </p:spPr>
        <p:txBody>
          <a:bodyPr wrap="square">
            <a:spAutoFit/>
          </a:bodyPr>
          <a:lstStyle/>
          <a:p>
            <a:pPr>
              <a:defRPr sz="1500" b="1">
                <a:solidFill>
                  <a:srgbClr val="06B6D4"/>
                </a:solidFill>
              </a:defRPr>
            </a:pPr>
            <a:r>
              <a:t>• Future Scope 1: Physical IoT Integration</a:t>
            </a:r>
          </a:p>
          <a:p>
            <a:pPr>
              <a:spcBef>
                <a:spcPts val="300"/>
              </a:spcBef>
              <a:defRPr sz="1200">
                <a:solidFill>
                  <a:srgbClr val="F8FAFC"/>
                </a:solidFill>
              </a:defRPr>
            </a:pPr>
            <a:r>
              <a:t>Direct integration with open-source ESP32 non-invasive split-core current transformers over MQTT/Home Assistant protocols.</a:t>
            </a:r>
          </a:p>
        </p:txBody>
      </p:sp>
      <p:sp>
        <p:nvSpPr>
          <p:cNvPr id="10" name="Rounded Rectangle 9"/>
          <p:cNvSpPr/>
          <p:nvPr/>
        </p:nvSpPr>
        <p:spPr>
          <a:xfrm>
            <a:off x="731520" y="5175504"/>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248656"/>
            <a:ext cx="10149840" cy="950976"/>
          </a:xfrm>
          <a:prstGeom prst="rect">
            <a:avLst/>
          </a:prstGeom>
          <a:noFill/>
        </p:spPr>
        <p:txBody>
          <a:bodyPr wrap="square">
            <a:spAutoFit/>
          </a:bodyPr>
          <a:lstStyle/>
          <a:p>
            <a:pPr>
              <a:defRPr sz="1500" b="1">
                <a:solidFill>
                  <a:srgbClr val="10B981"/>
                </a:solidFill>
              </a:defRPr>
            </a:pPr>
            <a:r>
              <a:t>• Future Scope 2: Bidirectional Vehicle-to-Grid (V2G)</a:t>
            </a:r>
          </a:p>
          <a:p>
            <a:pPr>
              <a:spcBef>
                <a:spcPts val="300"/>
              </a:spcBef>
              <a:defRPr sz="1200">
                <a:solidFill>
                  <a:srgbClr val="F8FAFC"/>
                </a:solidFill>
              </a:defRPr>
            </a:pPr>
            <a:r>
              <a:t>Leveraging EV battery packs (60–80 kWh) as neighborhood micro-peakers to sell power back to utilities during grid brownouts.</a:t>
            </a:r>
          </a:p>
        </p:txBody>
      </p:sp>
      <p:sp>
        <p:nvSpPr>
          <p:cNvPr id="12" name="TextBox 11"/>
          <p:cNvSpPr txBox="1"/>
          <p:nvPr/>
        </p:nvSpPr>
        <p:spPr>
          <a:xfrm>
            <a:off x="10972800" y="6400800"/>
            <a:ext cx="914400" cy="365760"/>
          </a:xfrm>
          <a:prstGeom prst="rect">
            <a:avLst/>
          </a:prstGeom>
          <a:noFill/>
        </p:spPr>
        <p:txBody>
          <a:bodyPr wrap="none">
            <a:spAutoFit/>
          </a:bodyPr>
          <a:lstStyle/>
          <a:p>
            <a:pPr algn="r">
              <a:defRPr sz="1000">
                <a:solidFill>
                  <a:srgbClr val="94A3B8"/>
                </a:solidFill>
              </a:defRPr>
            </a:pPr>
            <a: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1005840"/>
          </a:xfrm>
          <a:prstGeom prst="rect">
            <a:avLst/>
          </a:prstGeom>
          <a:noFill/>
        </p:spPr>
        <p:txBody>
          <a:bodyPr wrap="square">
            <a:spAutoFit/>
          </a:bodyPr>
          <a:lstStyle/>
          <a:p>
            <a:pPr>
              <a:defRPr sz="2400" b="1">
                <a:solidFill>
                  <a:srgbClr val="06B6D4"/>
                </a:solidFill>
              </a:defRPr>
            </a:pPr>
            <a:r>
              <a:t>14. CONCLUSION &amp; KEY TAKEAWAYS</a:t>
            </a:r>
          </a:p>
          <a:p>
            <a:pPr>
              <a:defRPr sz="1300">
                <a:solidFill>
                  <a:srgbClr val="94A3B8"/>
                </a:solidFill>
              </a:defRPr>
            </a:pPr>
            <a:r>
              <a:t>Summary of contributions made by the SmartEnergy AI platform</a:t>
            </a:r>
          </a:p>
        </p:txBody>
      </p:sp>
      <p:sp>
        <p:nvSpPr>
          <p:cNvPr id="4" name="Rounded Rectangle 3"/>
          <p:cNvSpPr/>
          <p:nvPr/>
        </p:nvSpPr>
        <p:spPr>
          <a:xfrm>
            <a:off x="731520" y="1554480"/>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27632"/>
            <a:ext cx="10149840" cy="950976"/>
          </a:xfrm>
          <a:prstGeom prst="rect">
            <a:avLst/>
          </a:prstGeom>
          <a:noFill/>
        </p:spPr>
        <p:txBody>
          <a:bodyPr wrap="square">
            <a:spAutoFit/>
          </a:bodyPr>
          <a:lstStyle/>
          <a:p>
            <a:pPr>
              <a:defRPr sz="1500" b="1">
                <a:solidFill>
                  <a:srgbClr val="06B6D4"/>
                </a:solidFill>
              </a:defRPr>
            </a:pPr>
            <a:r>
              <a:t>• Complete, Working End-to-End System</a:t>
            </a:r>
          </a:p>
          <a:p>
            <a:pPr>
              <a:spcBef>
                <a:spcPts val="300"/>
              </a:spcBef>
              <a:defRPr sz="1200">
                <a:solidFill>
                  <a:srgbClr val="F8FAFC"/>
                </a:solidFill>
              </a:defRPr>
            </a:pPr>
            <a:r>
              <a:t>Successfully designed, architected, and deployed an AI-driven energy management system from raw data to full user interfaces.</a:t>
            </a:r>
          </a:p>
        </p:txBody>
      </p:sp>
      <p:sp>
        <p:nvSpPr>
          <p:cNvPr id="6" name="Rounded Rectangle 5"/>
          <p:cNvSpPr/>
          <p:nvPr/>
        </p:nvSpPr>
        <p:spPr>
          <a:xfrm>
            <a:off x="731520" y="2761488"/>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834640"/>
            <a:ext cx="10149840" cy="950976"/>
          </a:xfrm>
          <a:prstGeom prst="rect">
            <a:avLst/>
          </a:prstGeom>
          <a:noFill/>
        </p:spPr>
        <p:txBody>
          <a:bodyPr wrap="square">
            <a:spAutoFit/>
          </a:bodyPr>
          <a:lstStyle/>
          <a:p>
            <a:pPr>
              <a:defRPr sz="1500" b="1">
                <a:solidFill>
                  <a:srgbClr val="10B981"/>
                </a:solidFill>
              </a:defRPr>
            </a:pPr>
            <a:r>
              <a:t>• Demonstrated Multi-Agent Coordination</a:t>
            </a:r>
          </a:p>
          <a:p>
            <a:pPr>
              <a:spcBef>
                <a:spcPts val="300"/>
              </a:spcBef>
              <a:defRPr sz="1200">
                <a:solidFill>
                  <a:srgbClr val="F8FAFC"/>
                </a:solidFill>
              </a:defRPr>
            </a:pPr>
            <a:r>
              <a:t>Showcased practical division of labor across 6 specialized agents with verified deterministic accuracy and AI explainability.</a:t>
            </a:r>
          </a:p>
        </p:txBody>
      </p:sp>
      <p:sp>
        <p:nvSpPr>
          <p:cNvPr id="8" name="Rounded Rectangle 7"/>
          <p:cNvSpPr/>
          <p:nvPr/>
        </p:nvSpPr>
        <p:spPr>
          <a:xfrm>
            <a:off x="731520" y="3968496"/>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041648"/>
            <a:ext cx="10149840" cy="950976"/>
          </a:xfrm>
          <a:prstGeom prst="rect">
            <a:avLst/>
          </a:prstGeom>
          <a:noFill/>
        </p:spPr>
        <p:txBody>
          <a:bodyPr wrap="square">
            <a:spAutoFit/>
          </a:bodyPr>
          <a:lstStyle/>
          <a:p>
            <a:pPr>
              <a:defRPr sz="1500" b="1">
                <a:solidFill>
                  <a:srgbClr val="06B6D4"/>
                </a:solidFill>
              </a:defRPr>
            </a:pPr>
            <a:r>
              <a:t>• Production-Grade Engineering</a:t>
            </a:r>
          </a:p>
          <a:p>
            <a:pPr>
              <a:spcBef>
                <a:spcPts val="300"/>
              </a:spcBef>
              <a:defRPr sz="1200">
                <a:solidFill>
                  <a:srgbClr val="F8FAFC"/>
                </a:solidFill>
              </a:defRPr>
            </a:pPr>
            <a:r>
              <a:t>Hardened with enterprise security protections, comprehensive test suites, 1-click Windows launch scripts, and complete documentation.</a:t>
            </a:r>
          </a:p>
        </p:txBody>
      </p:sp>
      <p:sp>
        <p:nvSpPr>
          <p:cNvPr id="10" name="Rounded Rectangle 9"/>
          <p:cNvSpPr/>
          <p:nvPr/>
        </p:nvSpPr>
        <p:spPr>
          <a:xfrm>
            <a:off x="731520" y="5175504"/>
            <a:ext cx="10728655" cy="1097280"/>
          </a:xfrm>
          <a:prstGeom prst="roundRect">
            <a:avLst/>
          </a:prstGeom>
          <a:solidFill>
            <a:srgbClr val="131B2E"/>
          </a:solidFill>
          <a:ln w="12700">
            <a:solidFill>
              <a:srgbClr val="171F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5248656"/>
            <a:ext cx="10149840" cy="950976"/>
          </a:xfrm>
          <a:prstGeom prst="rect">
            <a:avLst/>
          </a:prstGeom>
          <a:noFill/>
        </p:spPr>
        <p:txBody>
          <a:bodyPr wrap="square">
            <a:spAutoFit/>
          </a:bodyPr>
          <a:lstStyle/>
          <a:p>
            <a:pPr>
              <a:defRPr sz="1500" b="1">
                <a:solidFill>
                  <a:srgbClr val="10B981"/>
                </a:solidFill>
              </a:defRPr>
            </a:pPr>
            <a:r>
              <a:t>• Real Consumer Value</a:t>
            </a:r>
          </a:p>
          <a:p>
            <a:pPr>
              <a:spcBef>
                <a:spcPts val="300"/>
              </a:spcBef>
              <a:defRPr sz="1200">
                <a:solidFill>
                  <a:srgbClr val="F8FAFC"/>
                </a:solidFill>
              </a:defRPr>
            </a:pPr>
            <a:r>
              <a:t>Proves that intelligent load shifting and transparent energy visibility can dramatically reduce consumer costs while stabilizing the electrical grid.</a:t>
            </a:r>
          </a:p>
        </p:txBody>
      </p:sp>
      <p:sp>
        <p:nvSpPr>
          <p:cNvPr id="12" name="TextBox 11"/>
          <p:cNvSpPr txBox="1"/>
          <p:nvPr/>
        </p:nvSpPr>
        <p:spPr>
          <a:xfrm>
            <a:off x="10972800" y="6400800"/>
            <a:ext cx="914400" cy="365760"/>
          </a:xfrm>
          <a:prstGeom prst="rect">
            <a:avLst/>
          </a:prstGeom>
          <a:noFill/>
        </p:spPr>
        <p:txBody>
          <a:bodyPr wrap="none">
            <a:spAutoFit/>
          </a:bodyPr>
          <a:lstStyle/>
          <a:p>
            <a:pPr algn="r">
              <a:defRPr sz="1000">
                <a:solidFill>
                  <a:srgbClr val="94A3B8"/>
                </a:solidFill>
              </a:defRPr>
            </a:pPr>
            <a: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645920"/>
            <a:ext cx="9448495" cy="3657600"/>
          </a:xfrm>
          <a:prstGeom prst="roundRect">
            <a:avLst/>
          </a:prstGeom>
          <a:solidFill>
            <a:srgbClr val="131B2E"/>
          </a:solidFill>
          <a:ln w="254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2011680"/>
            <a:ext cx="8869680" cy="1280160"/>
          </a:xfrm>
          <a:prstGeom prst="rect">
            <a:avLst/>
          </a:prstGeom>
          <a:noFill/>
        </p:spPr>
        <p:txBody>
          <a:bodyPr wrap="square">
            <a:spAutoFit/>
          </a:bodyPr>
          <a:lstStyle/>
          <a:p>
            <a:pPr algn="ctr">
              <a:defRPr sz="3600" b="1">
                <a:solidFill>
                  <a:srgbClr val="06B6D4"/>
                </a:solidFill>
              </a:defRPr>
            </a:pPr>
            <a:r>
              <a:t>THANK YOU!</a:t>
            </a:r>
          </a:p>
          <a:p>
            <a:pPr algn="ctr">
              <a:spcBef>
                <a:spcPts val="1200"/>
              </a:spcBef>
              <a:defRPr sz="1800">
                <a:solidFill>
                  <a:srgbClr val="F8FAFC"/>
                </a:solidFill>
              </a:defRPr>
            </a:pPr>
            <a:r>
              <a:t>Questions &amp; Answers • Viva Defense</a:t>
            </a:r>
          </a:p>
        </p:txBody>
      </p:sp>
      <p:sp>
        <p:nvSpPr>
          <p:cNvPr id="5" name="TextBox 4"/>
          <p:cNvSpPr txBox="1"/>
          <p:nvPr/>
        </p:nvSpPr>
        <p:spPr>
          <a:xfrm>
            <a:off x="1645920" y="3657600"/>
            <a:ext cx="8869680" cy="1371600"/>
          </a:xfrm>
          <a:prstGeom prst="rect">
            <a:avLst/>
          </a:prstGeom>
          <a:noFill/>
        </p:spPr>
        <p:txBody>
          <a:bodyPr wrap="square">
            <a:spAutoFit/>
          </a:bodyPr>
          <a:lstStyle/>
          <a:p>
            <a:pPr algn="ctr">
              <a:defRPr sz="1300">
                <a:solidFill>
                  <a:srgbClr val="94A3B8"/>
                </a:solidFill>
              </a:defRPr>
            </a:pPr>
            <a:r>
              <a:t>Project Repository: SmartEnergy AI (VoltIQ Pulse)</a:t>
            </a:r>
            <a:br/>
            <a:r>
              <a:t>Ready for Live Software Demonstration &amp; Technical Q&amp;A</a:t>
            </a:r>
          </a:p>
        </p:txBody>
      </p:sp>
      <p:sp>
        <p:nvSpPr>
          <p:cNvPr id="6" name="TextBox 5"/>
          <p:cNvSpPr txBox="1"/>
          <p:nvPr/>
        </p:nvSpPr>
        <p:spPr>
          <a:xfrm>
            <a:off x="10972800" y="6400800"/>
            <a:ext cx="914400" cy="365760"/>
          </a:xfrm>
          <a:prstGeom prst="rect">
            <a:avLst/>
          </a:prstGeom>
          <a:noFill/>
        </p:spPr>
        <p:txBody>
          <a:bodyPr wrap="none">
            <a:spAutoFit/>
          </a:bodyPr>
          <a:lstStyle/>
          <a:p>
            <a:pPr algn="r">
              <a:defRPr sz="1000">
                <a:solidFill>
                  <a:srgbClr val="94A3B8"/>
                </a:solidFill>
              </a:defRPr>
            </a:pPr>
            <a: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